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57" r:id="rId4"/>
    <p:sldId id="288" r:id="rId5"/>
    <p:sldId id="258" r:id="rId6"/>
    <p:sldId id="278" r:id="rId7"/>
    <p:sldId id="274" r:id="rId8"/>
    <p:sldId id="272" r:id="rId9"/>
    <p:sldId id="270" r:id="rId10"/>
    <p:sldId id="269" r:id="rId11"/>
    <p:sldId id="271" r:id="rId12"/>
    <p:sldId id="273" r:id="rId13"/>
    <p:sldId id="291" r:id="rId14"/>
    <p:sldId id="267" r:id="rId15"/>
    <p:sldId id="279" r:id="rId16"/>
    <p:sldId id="280" r:id="rId17"/>
    <p:sldId id="289" r:id="rId18"/>
    <p:sldId id="297" r:id="rId19"/>
    <p:sldId id="292" r:id="rId20"/>
    <p:sldId id="295" r:id="rId21"/>
    <p:sldId id="294" r:id="rId22"/>
    <p:sldId id="296" r:id="rId23"/>
    <p:sldId id="303" r:id="rId24"/>
    <p:sldId id="304" r:id="rId25"/>
    <p:sldId id="305" r:id="rId26"/>
    <p:sldId id="298" r:id="rId27"/>
    <p:sldId id="302" r:id="rId28"/>
    <p:sldId id="268" r:id="rId29"/>
    <p:sldId id="277" r:id="rId30"/>
    <p:sldId id="275" r:id="rId31"/>
    <p:sldId id="26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UTOSH TRIPATHY (RA2111043010075)" initials="AT" lastIdx="1" clrIdx="0">
    <p:extLst>
      <p:ext uri="{19B8F6BF-5375-455C-9EA6-DF929625EA0E}">
        <p15:presenceInfo xmlns:p15="http://schemas.microsoft.com/office/powerpoint/2012/main" userId="S::at4950@srmist.edu.in::a3cdf947-6fef-4aaf-9530-9127ca901cb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98" autoAdjust="0"/>
    <p:restoredTop sz="95256" autoAdjust="0"/>
  </p:normalViewPr>
  <p:slideViewPr>
    <p:cSldViewPr snapToGrid="0">
      <p:cViewPr varScale="1">
        <p:scale>
          <a:sx n="107" d="100"/>
          <a:sy n="107" d="100"/>
        </p:scale>
        <p:origin x="61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034866724425896"/>
          <c:y val="0.1135873453747942"/>
          <c:w val="0.74368658378346053"/>
          <c:h val="0.8864126546252058"/>
        </c:manualLayout>
      </c:layout>
      <c:barChart>
        <c:barDir val="bar"/>
        <c:grouping val="stacked"/>
        <c:varyColors val="0"/>
        <c:ser>
          <c:idx val="0"/>
          <c:order val="0"/>
          <c:tx>
            <c:strRef>
              <c:f>Sheet1!$B$1</c:f>
              <c:strCache>
                <c:ptCount val="1"/>
                <c:pt idx="0">
                  <c:v>START DATE</c:v>
                </c:pt>
              </c:strCache>
            </c:strRef>
          </c:tx>
          <c:spPr>
            <a:noFill/>
            <a:ln>
              <a:noFill/>
            </a:ln>
            <a:effectLst/>
          </c:spPr>
          <c:invertIfNegative val="0"/>
          <c:dLbls>
            <c:delete val="1"/>
          </c:dLbls>
          <c:cat>
            <c:strRef>
              <c:f>Sheet1!$A$2:$A$5</c:f>
              <c:strCache>
                <c:ptCount val="4"/>
                <c:pt idx="0">
                  <c:v>COLLECTING DATASET</c:v>
                </c:pt>
                <c:pt idx="1">
                  <c:v>TRAINING THE MODEL AND EXPORTING </c:v>
                </c:pt>
                <c:pt idx="2">
                  <c:v>TESTING THE MODEL</c:v>
                </c:pt>
                <c:pt idx="3">
                  <c:v>EVALUATING THE MODEL</c:v>
                </c:pt>
              </c:strCache>
            </c:strRef>
          </c:cat>
          <c:val>
            <c:numRef>
              <c:f>Sheet1!$B$2:$B$5</c:f>
              <c:numCache>
                <c:formatCode>mm/dd/yy;@</c:formatCode>
                <c:ptCount val="4"/>
                <c:pt idx="0">
                  <c:v>45513</c:v>
                </c:pt>
                <c:pt idx="1">
                  <c:v>45530</c:v>
                </c:pt>
                <c:pt idx="2">
                  <c:v>45561</c:v>
                </c:pt>
                <c:pt idx="3">
                  <c:v>45580</c:v>
                </c:pt>
              </c:numCache>
            </c:numRef>
          </c:val>
          <c:extLst>
            <c:ext xmlns:c16="http://schemas.microsoft.com/office/drawing/2014/chart" uri="{C3380CC4-5D6E-409C-BE32-E72D297353CC}">
              <c16:uniqueId val="{00000000-0D90-4F7E-8E62-706BE1D5F566}"/>
            </c:ext>
          </c:extLst>
        </c:ser>
        <c:ser>
          <c:idx val="2"/>
          <c:order val="2"/>
          <c:tx>
            <c:strRef>
              <c:f>Sheet1!$D$1</c:f>
              <c:strCache>
                <c:ptCount val="1"/>
                <c:pt idx="0">
                  <c:v>DURATION</c:v>
                </c:pt>
              </c:strCache>
            </c:strRef>
          </c:tx>
          <c:spPr>
            <a:solidFill>
              <a:srgbClr val="92D050"/>
            </a:solidFill>
            <a:ln>
              <a:noFill/>
            </a:ln>
            <a:effectLst/>
          </c:spPr>
          <c:invertIfNegative val="0"/>
          <c:dPt>
            <c:idx val="1"/>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05-0D90-4F7E-8E62-706BE1D5F566}"/>
              </c:ext>
            </c:extLst>
          </c:dPt>
          <c:dPt>
            <c:idx val="2"/>
            <c:invertIfNegative val="0"/>
            <c:bubble3D val="0"/>
            <c:spPr>
              <a:solidFill>
                <a:schemeClr val="accent3">
                  <a:lumMod val="60000"/>
                  <a:lumOff val="40000"/>
                </a:schemeClr>
              </a:solidFill>
              <a:ln>
                <a:noFill/>
              </a:ln>
              <a:effectLst/>
            </c:spPr>
            <c:extLst>
              <c:ext xmlns:c16="http://schemas.microsoft.com/office/drawing/2014/chart" uri="{C3380CC4-5D6E-409C-BE32-E72D297353CC}">
                <c16:uniqueId val="{00000003-0D90-4F7E-8E62-706BE1D5F566}"/>
              </c:ext>
            </c:extLst>
          </c:dPt>
          <c:dPt>
            <c:idx val="3"/>
            <c:invertIfNegative val="0"/>
            <c:bubble3D val="0"/>
            <c:spPr>
              <a:solidFill>
                <a:schemeClr val="accent5">
                  <a:lumMod val="60000"/>
                  <a:lumOff val="40000"/>
                </a:schemeClr>
              </a:solidFill>
              <a:ln>
                <a:noFill/>
              </a:ln>
              <a:effectLst/>
            </c:spPr>
            <c:extLst>
              <c:ext xmlns:c16="http://schemas.microsoft.com/office/drawing/2014/chart" uri="{C3380CC4-5D6E-409C-BE32-E72D297353CC}">
                <c16:uniqueId val="{00000004-0D90-4F7E-8E62-706BE1D5F566}"/>
              </c:ext>
            </c:extLst>
          </c:dPt>
          <c:dLbls>
            <c:dLbl>
              <c:idx val="0"/>
              <c:layout>
                <c:manualLayout>
                  <c:x val="-3.4694469519536142E-18"/>
                  <c:y val="2.3437832118613886E-3"/>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3.435842046677226E-2"/>
                      <c:h val="4.2255548890221956E-2"/>
                    </c:manualLayout>
                  </c15:layout>
                </c:ext>
                <c:ext xmlns:c16="http://schemas.microsoft.com/office/drawing/2014/chart" uri="{C3380CC4-5D6E-409C-BE32-E72D297353CC}">
                  <c16:uniqueId val="{00000006-0D90-4F7E-8E62-706BE1D5F566}"/>
                </c:ext>
              </c:extLst>
            </c:dLbl>
            <c:dLbl>
              <c:idx val="1"/>
              <c:layout>
                <c:manualLayout>
                  <c:x val="3.421062532161831E-3"/>
                  <c:y val="4.6875664237230417E-3"/>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9.1375381082059781E-2"/>
                      <c:h val="4.2255548890221956E-2"/>
                    </c:manualLayout>
                  </c15:layout>
                </c:ext>
                <c:ext xmlns:c16="http://schemas.microsoft.com/office/drawing/2014/chart" uri="{C3380CC4-5D6E-409C-BE32-E72D297353CC}">
                  <c16:uniqueId val="{00000005-0D90-4F7E-8E62-706BE1D5F566}"/>
                </c:ext>
              </c:extLst>
            </c:dLbl>
            <c:dLbl>
              <c:idx val="2"/>
              <c:layout>
                <c:manualLayout>
                  <c:x val="2.8508031355197975E-3"/>
                  <c:y val="4.6317350703088166E-3"/>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8.1112328171308035E-2"/>
                      <c:h val="5.6652669466106767E-2"/>
                    </c:manualLayout>
                  </c15:layout>
                </c:ext>
                <c:ext xmlns:c16="http://schemas.microsoft.com/office/drawing/2014/chart" uri="{C3380CC4-5D6E-409C-BE32-E72D297353CC}">
                  <c16:uniqueId val="{00000003-0D90-4F7E-8E62-706BE1D5F566}"/>
                </c:ext>
              </c:extLst>
            </c:dLbl>
            <c:dLbl>
              <c:idx val="3"/>
              <c:layout>
                <c:manualLayout>
                  <c:x val="1.1404290027949085E-3"/>
                  <c:y val="5.5925822709451858E-5"/>
                </c:manualLayout>
              </c:layout>
              <c:tx>
                <c:rich>
                  <a:bodyPr/>
                  <a:lstStyle/>
                  <a:p>
                    <a:r>
                      <a:rPr lang="en-US" dirty="0"/>
                      <a:t>20</a:t>
                    </a:r>
                  </a:p>
                </c:rich>
              </c:tx>
              <c:dLblPos val="ctr"/>
              <c:showLegendKey val="0"/>
              <c:showVal val="1"/>
              <c:showCatName val="0"/>
              <c:showSerName val="0"/>
              <c:showPercent val="0"/>
              <c:showBubbleSize val="0"/>
              <c:extLst>
                <c:ext xmlns:c15="http://schemas.microsoft.com/office/drawing/2012/chart" uri="{CE6537A1-D6FC-4f65-9D91-7224C49458BB}">
                  <c15:layout>
                    <c:manualLayout>
                      <c:w val="8.9094702657448302E-2"/>
                      <c:h val="4.2255548890221956E-2"/>
                    </c:manualLayout>
                  </c15:layout>
                  <c15:showDataLabelsRange val="0"/>
                </c:ext>
                <c:ext xmlns:c16="http://schemas.microsoft.com/office/drawing/2014/chart" uri="{C3380CC4-5D6E-409C-BE32-E72D297353CC}">
                  <c16:uniqueId val="{00000004-0D90-4F7E-8E62-706BE1D5F56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COLLECTING DATASET</c:v>
                </c:pt>
                <c:pt idx="1">
                  <c:v>TRAINING THE MODEL AND EXPORTING </c:v>
                </c:pt>
                <c:pt idx="2">
                  <c:v>TESTING THE MODEL</c:v>
                </c:pt>
                <c:pt idx="3">
                  <c:v>EVALUATING THE MODEL</c:v>
                </c:pt>
              </c:strCache>
            </c:strRef>
          </c:cat>
          <c:val>
            <c:numRef>
              <c:f>Sheet1!$D$2:$D$5</c:f>
              <c:numCache>
                <c:formatCode>General</c:formatCode>
                <c:ptCount val="4"/>
                <c:pt idx="0">
                  <c:v>15</c:v>
                </c:pt>
                <c:pt idx="1">
                  <c:v>31</c:v>
                </c:pt>
                <c:pt idx="2">
                  <c:v>19</c:v>
                </c:pt>
                <c:pt idx="3">
                  <c:v>20</c:v>
                </c:pt>
              </c:numCache>
            </c:numRef>
          </c:val>
          <c:extLst>
            <c:ext xmlns:c16="http://schemas.microsoft.com/office/drawing/2014/chart" uri="{C3380CC4-5D6E-409C-BE32-E72D297353CC}">
              <c16:uniqueId val="{00000002-0D90-4F7E-8E62-706BE1D5F566}"/>
            </c:ext>
          </c:extLst>
        </c:ser>
        <c:dLbls>
          <c:dLblPos val="ctr"/>
          <c:showLegendKey val="0"/>
          <c:showVal val="1"/>
          <c:showCatName val="0"/>
          <c:showSerName val="0"/>
          <c:showPercent val="0"/>
          <c:showBubbleSize val="0"/>
        </c:dLbls>
        <c:gapWidth val="150"/>
        <c:overlap val="100"/>
        <c:axId val="1577007424"/>
        <c:axId val="1577009824"/>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END DATE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Sheet1!$A$2:$A$5</c15:sqref>
                        </c15:formulaRef>
                      </c:ext>
                    </c:extLst>
                    <c:strCache>
                      <c:ptCount val="4"/>
                      <c:pt idx="0">
                        <c:v>COLLECTING DATASET</c:v>
                      </c:pt>
                      <c:pt idx="1">
                        <c:v>TRAINING THE MODEL AND EXPORTING </c:v>
                      </c:pt>
                      <c:pt idx="2">
                        <c:v>TESTING THE MODEL</c:v>
                      </c:pt>
                      <c:pt idx="3">
                        <c:v>EVALUATING THE MODEL</c:v>
                      </c:pt>
                    </c:strCache>
                  </c:strRef>
                </c:cat>
                <c:val>
                  <c:numRef>
                    <c:extLst>
                      <c:ext uri="{02D57815-91ED-43cb-92C2-25804820EDAC}">
                        <c15:formulaRef>
                          <c15:sqref>Sheet1!$C$2:$C$5</c15:sqref>
                        </c15:formulaRef>
                      </c:ext>
                    </c:extLst>
                    <c:numCache>
                      <c:formatCode>mm/dd/yy;@</c:formatCode>
                      <c:ptCount val="4"/>
                      <c:pt idx="0">
                        <c:v>45530</c:v>
                      </c:pt>
                      <c:pt idx="1">
                        <c:v>45561</c:v>
                      </c:pt>
                      <c:pt idx="2">
                        <c:v>45580</c:v>
                      </c:pt>
                      <c:pt idx="3">
                        <c:v>45600</c:v>
                      </c:pt>
                    </c:numCache>
                  </c:numRef>
                </c:val>
                <c:extLst>
                  <c:ext xmlns:c16="http://schemas.microsoft.com/office/drawing/2014/chart" uri="{C3380CC4-5D6E-409C-BE32-E72D297353CC}">
                    <c16:uniqueId val="{00000001-0D90-4F7E-8E62-706BE1D5F566}"/>
                  </c:ext>
                </c:extLst>
              </c15:ser>
            </c15:filteredBarSeries>
          </c:ext>
        </c:extLst>
      </c:barChart>
      <c:catAx>
        <c:axId val="15770074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77009824"/>
        <c:crosses val="autoZero"/>
        <c:auto val="1"/>
        <c:lblAlgn val="ctr"/>
        <c:lblOffset val="100"/>
        <c:noMultiLvlLbl val="0"/>
      </c:catAx>
      <c:valAx>
        <c:axId val="1577009824"/>
        <c:scaling>
          <c:orientation val="minMax"/>
        </c:scaling>
        <c:delete val="0"/>
        <c:axPos val="b"/>
        <c:majorGridlines>
          <c:spPr>
            <a:ln w="9525" cap="flat" cmpd="sng" algn="ctr">
              <a:solidFill>
                <a:schemeClr val="tx1">
                  <a:lumMod val="15000"/>
                  <a:lumOff val="85000"/>
                </a:schemeClr>
              </a:solidFill>
              <a:round/>
            </a:ln>
            <a:effectLst/>
          </c:spPr>
        </c:majorGridlines>
        <c:numFmt formatCode="mm/dd/yy;@"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770074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11E1D-6E26-8D4B-FB98-6CD77794FB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9B56E6-9121-A817-BBBF-0B4A27C815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C4139E-1725-025C-5EF8-DF6FF22A6D61}"/>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5" name="Footer Placeholder 4">
            <a:extLst>
              <a:ext uri="{FF2B5EF4-FFF2-40B4-BE49-F238E27FC236}">
                <a16:creationId xmlns:a16="http://schemas.microsoft.com/office/drawing/2014/main" id="{BEAC8C9C-F356-1DC9-790B-39720F5DC3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8FE826-549D-BC98-7729-1324AB1503F2}"/>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1390747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FAA9F-A242-65D7-87B1-C5FD949C6F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7BD5E7-F14C-279F-D876-3466C9E271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70C3A2-A824-13F7-EC10-85211C865D38}"/>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5" name="Footer Placeholder 4">
            <a:extLst>
              <a:ext uri="{FF2B5EF4-FFF2-40B4-BE49-F238E27FC236}">
                <a16:creationId xmlns:a16="http://schemas.microsoft.com/office/drawing/2014/main" id="{CF29477E-DDC0-BBCF-AC76-03B00AE466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504B3D-8A87-635A-53A0-2C839E3E2B53}"/>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1664571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EE40C-6B7F-FDAC-9F65-93E1DC6C59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BA9817-6F3A-37DE-4AAD-C600C3F76F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BB6D77-32C5-7687-B46D-046FA4D2FA0E}"/>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5" name="Footer Placeholder 4">
            <a:extLst>
              <a:ext uri="{FF2B5EF4-FFF2-40B4-BE49-F238E27FC236}">
                <a16:creationId xmlns:a16="http://schemas.microsoft.com/office/drawing/2014/main" id="{6F6151F0-732A-283E-1474-10D6009184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579AAB-1FAF-0A03-62C0-FA3480D3ECDB}"/>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868318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43E3D-15AD-F36A-395B-8A55A18B36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682127-FA4D-C3AB-31B3-43A3C9DD9D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FF81464-792A-9755-48DA-2B95077CD5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F70422-DFBE-532A-37BF-805D1B2C3431}"/>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6" name="Footer Placeholder 5">
            <a:extLst>
              <a:ext uri="{FF2B5EF4-FFF2-40B4-BE49-F238E27FC236}">
                <a16:creationId xmlns:a16="http://schemas.microsoft.com/office/drawing/2014/main" id="{D825FD1C-7967-515D-94F8-93F7DF2DB2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7F0453-EB7F-DD6F-3941-674E52F837C0}"/>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2879375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624D3-1C54-C6AB-C364-9A713AB7E7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902ED1-2FEB-1C6F-0ECD-660383E030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0F3B94-E52E-2591-9234-6E505A2F44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F6DBCF-0048-2822-C73F-4F87278DB0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FE2F19-C37A-AF5A-5847-23EE8E2997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012EC3-47E1-15BF-E702-6B56FB1AD150}"/>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8" name="Footer Placeholder 7">
            <a:extLst>
              <a:ext uri="{FF2B5EF4-FFF2-40B4-BE49-F238E27FC236}">
                <a16:creationId xmlns:a16="http://schemas.microsoft.com/office/drawing/2014/main" id="{CFDA03BF-3123-D7D2-721F-2EBF91F5320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FEECE6-E939-A149-3E07-1E24ADD16F09}"/>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2070806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C89F8-C81E-303C-F75B-C52DC87127E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7A5FFB-3AB5-52FB-C13F-B54696A4A0FF}"/>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4" name="Footer Placeholder 3">
            <a:extLst>
              <a:ext uri="{FF2B5EF4-FFF2-40B4-BE49-F238E27FC236}">
                <a16:creationId xmlns:a16="http://schemas.microsoft.com/office/drawing/2014/main" id="{41884108-28E0-92BC-B66A-E72532B849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F2475C-B23C-6685-43CC-83863DBE6586}"/>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3039282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6FB6B0-7E77-1F35-58DF-DEED96F120E4}"/>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3" name="Footer Placeholder 2">
            <a:extLst>
              <a:ext uri="{FF2B5EF4-FFF2-40B4-BE49-F238E27FC236}">
                <a16:creationId xmlns:a16="http://schemas.microsoft.com/office/drawing/2014/main" id="{EC53A3F9-BEC3-0F37-C00B-44C2BE6E9D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CCF6D9-B1A7-3A87-A320-E07F699BF5C2}"/>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143299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94FD4-74ED-8EC7-483A-E3889E6263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C5B09C-6FB0-7094-C1DA-7D7A4DD32C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80FE55-F74F-7EAB-F2AF-C57C73820F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BE36BE-3A33-8163-6D57-7B3D021390D2}"/>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6" name="Footer Placeholder 5">
            <a:extLst>
              <a:ext uri="{FF2B5EF4-FFF2-40B4-BE49-F238E27FC236}">
                <a16:creationId xmlns:a16="http://schemas.microsoft.com/office/drawing/2014/main" id="{7711320C-189C-353F-A774-9AE1601521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E9A2BC-B112-D2E6-972F-AF085760C4AB}"/>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3172199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2AA05-2E63-36A1-65FE-0454C95EA3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800D9AF-CB7E-FAA2-7292-077DCD8076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228CF2-8C84-AC2D-3DE7-F142D1FF9B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4F1D36-7546-0001-1137-9B719198EFB8}"/>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6" name="Footer Placeholder 5">
            <a:extLst>
              <a:ext uri="{FF2B5EF4-FFF2-40B4-BE49-F238E27FC236}">
                <a16:creationId xmlns:a16="http://schemas.microsoft.com/office/drawing/2014/main" id="{79D5D7C0-934D-1BB3-2B9B-B6AB4E89F4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D263D1-8B15-337B-9FA7-34D28E3E6C72}"/>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3801966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3231C-B24F-EC8F-EDA4-CCE62855D70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0E956B-CB6B-90AB-5A07-04EECE826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F03E7B-3492-6657-DFA0-9E2BC0135090}"/>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5" name="Footer Placeholder 4">
            <a:extLst>
              <a:ext uri="{FF2B5EF4-FFF2-40B4-BE49-F238E27FC236}">
                <a16:creationId xmlns:a16="http://schemas.microsoft.com/office/drawing/2014/main" id="{A56B89DC-A4BE-16BF-7D8E-2AFA559FF6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C4C9E3-C576-E8B2-C70F-31E417283069}"/>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3134847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B9B361-3486-F2AD-1260-E368E3E652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D03813-51C1-DFE6-2A7C-3EB4E2F3DC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7BBD6C-BCCB-5338-CF13-E24E608DFC44}"/>
              </a:ext>
            </a:extLst>
          </p:cNvPr>
          <p:cNvSpPr>
            <a:spLocks noGrp="1"/>
          </p:cNvSpPr>
          <p:nvPr>
            <p:ph type="dt" sz="half" idx="10"/>
          </p:nvPr>
        </p:nvSpPr>
        <p:spPr/>
        <p:txBody>
          <a:bodyPr/>
          <a:lstStyle/>
          <a:p>
            <a:fld id="{A508F95B-3095-43E7-A3E2-166FE7213C06}" type="datetimeFigureOut">
              <a:rPr lang="en-IN" smtClean="0"/>
              <a:t>06-05-2025</a:t>
            </a:fld>
            <a:endParaRPr lang="en-IN"/>
          </a:p>
        </p:txBody>
      </p:sp>
      <p:sp>
        <p:nvSpPr>
          <p:cNvPr id="5" name="Footer Placeholder 4">
            <a:extLst>
              <a:ext uri="{FF2B5EF4-FFF2-40B4-BE49-F238E27FC236}">
                <a16:creationId xmlns:a16="http://schemas.microsoft.com/office/drawing/2014/main" id="{DBBE8F8B-9699-46EE-78B4-CFCBC4065D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973520-3615-11EC-CB3D-7BFD9CADFDE1}"/>
              </a:ext>
            </a:extLst>
          </p:cNvPr>
          <p:cNvSpPr>
            <a:spLocks noGrp="1"/>
          </p:cNvSpPr>
          <p:nvPr>
            <p:ph type="sldNum" sz="quarter" idx="12"/>
          </p:nvPr>
        </p:nvSpPr>
        <p:spPr/>
        <p:txBody>
          <a:bodyPr/>
          <a:lstStyle/>
          <a:p>
            <a:fld id="{8AC28AA6-3DA3-4E68-A6BF-6DF3449F973B}" type="slidenum">
              <a:rPr lang="en-IN" smtClean="0"/>
              <a:t>‹#›</a:t>
            </a:fld>
            <a:endParaRPr lang="en-IN"/>
          </a:p>
        </p:txBody>
      </p:sp>
    </p:spTree>
    <p:extLst>
      <p:ext uri="{BB962C8B-B14F-4D97-AF65-F5344CB8AC3E}">
        <p14:creationId xmlns:p14="http://schemas.microsoft.com/office/powerpoint/2010/main" val="1969757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A64E8C-9CE1-9521-67EE-223BC093E4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CD3147-5BD9-0A25-455D-67D78EF1BE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071DBE-8680-22DB-E176-62F0761085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08F95B-3095-43E7-A3E2-166FE7213C06}" type="datetimeFigureOut">
              <a:rPr lang="en-IN" smtClean="0"/>
              <a:t>06-05-2025</a:t>
            </a:fld>
            <a:endParaRPr lang="en-IN"/>
          </a:p>
        </p:txBody>
      </p:sp>
      <p:sp>
        <p:nvSpPr>
          <p:cNvPr id="5" name="Footer Placeholder 4">
            <a:extLst>
              <a:ext uri="{FF2B5EF4-FFF2-40B4-BE49-F238E27FC236}">
                <a16:creationId xmlns:a16="http://schemas.microsoft.com/office/drawing/2014/main" id="{D5A1A04B-10D5-15E1-EF5A-58AC35AE98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8811903-D16A-EBF7-C302-D7AD0DB87F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28AA6-3DA3-4E68-A6BF-6DF3449F973B}" type="slidenum">
              <a:rPr lang="en-IN" smtClean="0"/>
              <a:t>‹#›</a:t>
            </a:fld>
            <a:endParaRPr lang="en-IN"/>
          </a:p>
        </p:txBody>
      </p:sp>
    </p:spTree>
    <p:extLst>
      <p:ext uri="{BB962C8B-B14F-4D97-AF65-F5344CB8AC3E}">
        <p14:creationId xmlns:p14="http://schemas.microsoft.com/office/powerpoint/2010/main" val="1658955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C4FE2F-0EF5-E69E-7BED-C7F57DDCD6EC}"/>
              </a:ext>
            </a:extLst>
          </p:cNvPr>
          <p:cNvSpPr/>
          <p:nvPr/>
        </p:nvSpPr>
        <p:spPr>
          <a:xfrm>
            <a:off x="457460" y="2964359"/>
            <a:ext cx="10783695" cy="1347805"/>
          </a:xfrm>
          <a:prstGeom prst="rect">
            <a:avLst/>
          </a:prstGeom>
        </p:spPr>
        <p:txBody>
          <a:bodyPr wrap="square">
            <a:spAutoFit/>
          </a:bodyPr>
          <a:lstStyle/>
          <a:p>
            <a:pPr algn="ctr">
              <a:lnSpc>
                <a:spcPct val="115000"/>
              </a:lnSpc>
              <a:spcAft>
                <a:spcPts val="0"/>
              </a:spcAft>
            </a:pPr>
            <a:r>
              <a:rPr lang="en-US" b="1" dirty="0">
                <a:effectLst/>
                <a:latin typeface="Calibri" panose="020F0502020204030204" pitchFamily="34" charset="0"/>
                <a:ea typeface="Times New Roman" panose="02020603050405020304" pitchFamily="18" charset="0"/>
                <a:cs typeface="Latha"/>
              </a:rPr>
              <a:t>           Project Member Details:    </a:t>
            </a:r>
          </a:p>
          <a:p>
            <a:pPr algn="ctr">
              <a:lnSpc>
                <a:spcPct val="115000"/>
              </a:lnSpc>
              <a:spcAft>
                <a:spcPts val="0"/>
              </a:spcAft>
            </a:pPr>
            <a:r>
              <a:rPr lang="en-US" dirty="0">
                <a:effectLst/>
                <a:latin typeface="Calibri" panose="020F0502020204030204" pitchFamily="34" charset="0"/>
                <a:ea typeface="Times New Roman" panose="02020603050405020304" pitchFamily="18" charset="0"/>
                <a:cs typeface="Latha"/>
              </a:rPr>
              <a:t>            ASUTOSH TRIPATHY</a:t>
            </a:r>
          </a:p>
          <a:p>
            <a:pPr algn="ctr">
              <a:lnSpc>
                <a:spcPct val="115000"/>
              </a:lnSpc>
              <a:spcAft>
                <a:spcPts val="0"/>
              </a:spcAft>
            </a:pPr>
            <a:r>
              <a:rPr lang="en-US" dirty="0">
                <a:latin typeface="Calibri" panose="020F0502020204030204" pitchFamily="34" charset="0"/>
                <a:ea typeface="Times New Roman" panose="02020603050405020304" pitchFamily="18" charset="0"/>
                <a:cs typeface="Latha"/>
              </a:rPr>
              <a:t>              MANDELA SATISH</a:t>
            </a:r>
          </a:p>
          <a:p>
            <a:pPr algn="ctr">
              <a:lnSpc>
                <a:spcPct val="115000"/>
              </a:lnSpc>
              <a:spcAft>
                <a:spcPts val="0"/>
              </a:spcAft>
            </a:pPr>
            <a:r>
              <a:rPr lang="en-US" dirty="0">
                <a:effectLst/>
                <a:latin typeface="Calibri" panose="020F0502020204030204" pitchFamily="34" charset="0"/>
                <a:ea typeface="Times New Roman" panose="02020603050405020304" pitchFamily="18" charset="0"/>
                <a:cs typeface="Latha"/>
              </a:rPr>
              <a:t>              SUDHANSHU DAS</a:t>
            </a:r>
          </a:p>
        </p:txBody>
      </p:sp>
      <p:sp>
        <p:nvSpPr>
          <p:cNvPr id="5" name="Rectangle 4">
            <a:extLst>
              <a:ext uri="{FF2B5EF4-FFF2-40B4-BE49-F238E27FC236}">
                <a16:creationId xmlns:a16="http://schemas.microsoft.com/office/drawing/2014/main" id="{B71927B7-7FC0-B03C-B52B-9DF9B0ECC9FA}"/>
              </a:ext>
            </a:extLst>
          </p:cNvPr>
          <p:cNvSpPr/>
          <p:nvPr/>
        </p:nvSpPr>
        <p:spPr>
          <a:xfrm>
            <a:off x="457460" y="4532277"/>
            <a:ext cx="11225554" cy="1029256"/>
          </a:xfrm>
          <a:prstGeom prst="rect">
            <a:avLst/>
          </a:prstGeom>
        </p:spPr>
        <p:txBody>
          <a:bodyPr wrap="square">
            <a:spAutoFit/>
          </a:bodyPr>
          <a:lstStyle/>
          <a:p>
            <a:pPr algn="ctr">
              <a:lnSpc>
                <a:spcPct val="115000"/>
              </a:lnSpc>
              <a:spcAft>
                <a:spcPts val="0"/>
              </a:spcAft>
            </a:pPr>
            <a:r>
              <a:rPr lang="en-US" b="1" dirty="0">
                <a:effectLst/>
                <a:latin typeface="Calibri" panose="020F0502020204030204" pitchFamily="34" charset="0"/>
                <a:ea typeface="Times New Roman" panose="02020603050405020304" pitchFamily="18" charset="0"/>
                <a:cs typeface="Latha"/>
              </a:rPr>
              <a:t>Project Guide:</a:t>
            </a:r>
          </a:p>
          <a:p>
            <a:pPr algn="ctr">
              <a:lnSpc>
                <a:spcPct val="115000"/>
              </a:lnSpc>
              <a:spcAft>
                <a:spcPts val="0"/>
              </a:spcAft>
            </a:pPr>
            <a:r>
              <a:rPr lang="en-US" dirty="0">
                <a:latin typeface="Calibri" panose="020F0502020204030204" pitchFamily="34" charset="0"/>
                <a:ea typeface="Times New Roman" panose="02020603050405020304" pitchFamily="18" charset="0"/>
                <a:cs typeface="Latha"/>
              </a:rPr>
              <a:t>Dr. T. RAJALAKSHMI </a:t>
            </a:r>
          </a:p>
          <a:p>
            <a:pPr algn="ctr">
              <a:lnSpc>
                <a:spcPct val="115000"/>
              </a:lnSpc>
              <a:spcAft>
                <a:spcPts val="0"/>
              </a:spcAft>
            </a:pPr>
            <a:r>
              <a:rPr lang="en-US" dirty="0">
                <a:latin typeface="Calibri" panose="020F0502020204030204" pitchFamily="34" charset="0"/>
                <a:ea typeface="Times New Roman" panose="02020603050405020304" pitchFamily="18" charset="0"/>
                <a:cs typeface="Latha"/>
              </a:rPr>
              <a:t>ASSOCIATE PROFESSOR, DEPT OF ECE, SRMIST</a:t>
            </a:r>
          </a:p>
        </p:txBody>
      </p:sp>
      <p:sp>
        <p:nvSpPr>
          <p:cNvPr id="6" name="Title 1">
            <a:extLst>
              <a:ext uri="{FF2B5EF4-FFF2-40B4-BE49-F238E27FC236}">
                <a16:creationId xmlns:a16="http://schemas.microsoft.com/office/drawing/2014/main" id="{81D878D1-BD9F-802E-BE63-A870AA8E8ECC}"/>
              </a:ext>
            </a:extLst>
          </p:cNvPr>
          <p:cNvSpPr>
            <a:spLocks noGrp="1"/>
          </p:cNvSpPr>
          <p:nvPr>
            <p:ph type="ctrTitle"/>
          </p:nvPr>
        </p:nvSpPr>
        <p:spPr>
          <a:xfrm>
            <a:off x="1524000" y="1122363"/>
            <a:ext cx="9144000" cy="1404527"/>
          </a:xfrm>
        </p:spPr>
        <p:txBody>
          <a:bodyPr>
            <a:normAutofit/>
          </a:bodyPr>
          <a:lstStyle/>
          <a:p>
            <a:r>
              <a:rPr lang="en-US" sz="3200" b="1" dirty="0">
                <a:latin typeface="+mn-lt"/>
                <a:cs typeface="Times New Roman" panose="02020603050405020304" pitchFamily="18" charset="0"/>
              </a:rPr>
              <a:t>   </a:t>
            </a:r>
            <a:r>
              <a:rPr lang="en-US" sz="4800" dirty="0">
                <a:latin typeface="+mn-lt"/>
                <a:cs typeface="Times New Roman" panose="02020603050405020304" pitchFamily="18" charset="0"/>
              </a:rPr>
              <a:t>Alzheimer Disease Detection</a:t>
            </a:r>
          </a:p>
        </p:txBody>
      </p:sp>
    </p:spTree>
    <p:extLst>
      <p:ext uri="{BB962C8B-B14F-4D97-AF65-F5344CB8AC3E}">
        <p14:creationId xmlns:p14="http://schemas.microsoft.com/office/powerpoint/2010/main" val="1799886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049A3-136A-4FD3-985C-DAA06ACB5238}"/>
              </a:ext>
            </a:extLst>
          </p:cNvPr>
          <p:cNvSpPr>
            <a:spLocks noGrp="1"/>
          </p:cNvSpPr>
          <p:nvPr>
            <p:ph type="title"/>
          </p:nvPr>
        </p:nvSpPr>
        <p:spPr/>
        <p:txBody>
          <a:bodyPr/>
          <a:lstStyle/>
          <a:p>
            <a:pPr algn="ctr"/>
            <a:r>
              <a:rPr lang="en-US" dirty="0"/>
              <a:t>Index</a:t>
            </a:r>
            <a:endParaRPr lang="en-IN" dirty="0"/>
          </a:p>
        </p:txBody>
      </p:sp>
      <p:sp>
        <p:nvSpPr>
          <p:cNvPr id="3" name="Content Placeholder 2">
            <a:extLst>
              <a:ext uri="{FF2B5EF4-FFF2-40B4-BE49-F238E27FC236}">
                <a16:creationId xmlns:a16="http://schemas.microsoft.com/office/drawing/2014/main" id="{4A82B8AB-AB66-4E6A-89AE-99844F3D7F40}"/>
              </a:ext>
            </a:extLst>
          </p:cNvPr>
          <p:cNvSpPr>
            <a:spLocks noGrp="1"/>
          </p:cNvSpPr>
          <p:nvPr>
            <p:ph idx="1"/>
          </p:nvPr>
        </p:nvSpPr>
        <p:spPr>
          <a:xfrm>
            <a:off x="838199" y="1996457"/>
            <a:ext cx="11174025" cy="4677900"/>
          </a:xfrm>
        </p:spPr>
        <p:txBody>
          <a:bodyPr>
            <a:normAutofit/>
          </a:bodyPr>
          <a:lstStyle/>
          <a:p>
            <a:pPr marL="457200" lvl="0" indent="-457200" algn="l" rtl="0">
              <a:lnSpc>
                <a:spcPct val="100000"/>
              </a:lnSpc>
              <a:spcBef>
                <a:spcPts val="0"/>
              </a:spcBef>
              <a:spcAft>
                <a:spcPts val="0"/>
              </a:spcAft>
              <a:buClr>
                <a:srgbClr val="000000"/>
              </a:buClr>
              <a:buSzPts val="2376"/>
              <a:buFont typeface="Arial"/>
              <a:buChar char="•"/>
            </a:pPr>
            <a:r>
              <a:rPr lang="en-US" sz="2700" dirty="0">
                <a:ea typeface="Times New Roman"/>
                <a:cs typeface="Times New Roman"/>
                <a:sym typeface="Times New Roman"/>
              </a:rPr>
              <a:t>Introduction 	                                                    3-4</a:t>
            </a:r>
          </a:p>
          <a:p>
            <a:pPr marL="457200" lvl="0" indent="-457200" algn="l" rtl="0">
              <a:lnSpc>
                <a:spcPct val="100000"/>
              </a:lnSpc>
              <a:spcBef>
                <a:spcPts val="0"/>
              </a:spcBef>
              <a:spcAft>
                <a:spcPts val="0"/>
              </a:spcAft>
              <a:buClr>
                <a:srgbClr val="000000"/>
              </a:buClr>
              <a:buSzPts val="2376"/>
              <a:buFont typeface="Arial"/>
              <a:buChar char="•"/>
            </a:pPr>
            <a:r>
              <a:rPr lang="en-US" sz="2700" dirty="0">
                <a:ea typeface="Times New Roman"/>
                <a:cs typeface="Times New Roman"/>
                <a:sym typeface="Times New Roman"/>
              </a:rPr>
              <a:t>Motivation			                              5                                  		                         </a:t>
            </a:r>
            <a:endParaRPr lang="en-US" sz="2700" dirty="0"/>
          </a:p>
          <a:p>
            <a:pPr marL="457200" lvl="0" indent="-457200" algn="l" rtl="0">
              <a:lnSpc>
                <a:spcPct val="100000"/>
              </a:lnSpc>
              <a:spcBef>
                <a:spcPts val="0"/>
              </a:spcBef>
              <a:spcAft>
                <a:spcPts val="0"/>
              </a:spcAft>
              <a:buClr>
                <a:srgbClr val="000000"/>
              </a:buClr>
              <a:buSzPts val="2376"/>
              <a:buFont typeface="Arial"/>
              <a:buChar char="•"/>
            </a:pPr>
            <a:r>
              <a:rPr lang="en-US" sz="2700" dirty="0">
                <a:ea typeface="Times New Roman"/>
                <a:cs typeface="Times New Roman"/>
                <a:sym typeface="Times New Roman"/>
              </a:rPr>
              <a:t>Literature review		                            6-12	                    		                           </a:t>
            </a:r>
            <a:endParaRPr lang="en-US" sz="2700" dirty="0"/>
          </a:p>
          <a:p>
            <a:pPr marL="457200" indent="-457200">
              <a:lnSpc>
                <a:spcPct val="100000"/>
              </a:lnSpc>
              <a:spcBef>
                <a:spcPts val="0"/>
              </a:spcBef>
              <a:buClr>
                <a:srgbClr val="000000"/>
              </a:buClr>
              <a:buSzPts val="2376"/>
              <a:buFont typeface="Arial"/>
              <a:buChar char="•"/>
            </a:pPr>
            <a:r>
              <a:rPr lang="en-US" sz="2700" dirty="0">
                <a:ea typeface="Times New Roman"/>
                <a:cs typeface="Times New Roman"/>
                <a:sym typeface="Times New Roman"/>
              </a:rPr>
              <a:t>Problem Statement and Objectives	              13-14</a:t>
            </a:r>
            <a:endParaRPr lang="en-US" sz="2700" dirty="0"/>
          </a:p>
          <a:p>
            <a:pPr marL="457200" lvl="0" indent="-457200" algn="l" rtl="0">
              <a:lnSpc>
                <a:spcPct val="100000"/>
              </a:lnSpc>
              <a:spcBef>
                <a:spcPts val="0"/>
              </a:spcBef>
              <a:spcAft>
                <a:spcPts val="0"/>
              </a:spcAft>
              <a:buClr>
                <a:srgbClr val="000000"/>
              </a:buClr>
              <a:buSzPts val="2376"/>
              <a:buFont typeface="Arial"/>
              <a:buChar char="•"/>
            </a:pPr>
            <a:r>
              <a:rPr lang="en-US" sz="2700" dirty="0">
                <a:ea typeface="Times New Roman"/>
                <a:cs typeface="Times New Roman"/>
                <a:sym typeface="Times New Roman"/>
              </a:rPr>
              <a:t>Design and Results			              15-31	</a:t>
            </a:r>
            <a:endParaRPr lang="en-US" sz="2700" dirty="0"/>
          </a:p>
          <a:p>
            <a:pPr marL="457200" lvl="0" indent="-457200" algn="l" rtl="0">
              <a:lnSpc>
                <a:spcPct val="100000"/>
              </a:lnSpc>
              <a:spcBef>
                <a:spcPts val="0"/>
              </a:spcBef>
              <a:spcAft>
                <a:spcPts val="0"/>
              </a:spcAft>
              <a:buClr>
                <a:srgbClr val="000000"/>
              </a:buClr>
              <a:buSzPts val="2376"/>
              <a:buFont typeface="Arial"/>
              <a:buChar char="•"/>
            </a:pPr>
            <a:r>
              <a:rPr lang="en-US" sz="2700" dirty="0">
                <a:ea typeface="Times New Roman"/>
                <a:cs typeface="Times New Roman"/>
                <a:sym typeface="Times New Roman"/>
              </a:rPr>
              <a:t>Software and Hardware Required		  34-35        	          	                            </a:t>
            </a:r>
            <a:endParaRPr lang="en-US" sz="2700" dirty="0"/>
          </a:p>
          <a:p>
            <a:pPr marL="457200" lvl="0" indent="-457200" algn="l" rtl="0">
              <a:lnSpc>
                <a:spcPct val="100000"/>
              </a:lnSpc>
              <a:spcBef>
                <a:spcPts val="0"/>
              </a:spcBef>
              <a:spcAft>
                <a:spcPts val="0"/>
              </a:spcAft>
              <a:buClr>
                <a:srgbClr val="000000"/>
              </a:buClr>
              <a:buSzPts val="2376"/>
              <a:buFont typeface="Arial"/>
              <a:buChar char="•"/>
            </a:pPr>
            <a:r>
              <a:rPr lang="en-US" sz="2700" dirty="0">
                <a:ea typeface="Times New Roman"/>
                <a:cs typeface="Times New Roman"/>
                <a:sym typeface="Times New Roman"/>
              </a:rPr>
              <a:t>References                                                              36</a:t>
            </a:r>
          </a:p>
          <a:p>
            <a:pPr marL="457200" lvl="0" indent="-289664" algn="l" rtl="0">
              <a:lnSpc>
                <a:spcPct val="100000"/>
              </a:lnSpc>
              <a:spcBef>
                <a:spcPts val="0"/>
              </a:spcBef>
              <a:spcAft>
                <a:spcPts val="0"/>
              </a:spcAft>
              <a:buClr>
                <a:srgbClr val="000000"/>
              </a:buClr>
              <a:buSzPts val="2638"/>
              <a:buFont typeface="Arial"/>
              <a:buNone/>
            </a:pPr>
            <a:endParaRPr lang="en-US" dirty="0">
              <a:latin typeface="+mj-lt"/>
              <a:ea typeface="Times New Roman"/>
              <a:cs typeface="Times New Roman"/>
              <a:sym typeface="Times New Roman"/>
            </a:endParaRPr>
          </a:p>
          <a:p>
            <a:pPr marL="457200" lvl="0" indent="-289664" algn="l" rtl="0">
              <a:lnSpc>
                <a:spcPct val="100000"/>
              </a:lnSpc>
              <a:spcBef>
                <a:spcPts val="0"/>
              </a:spcBef>
              <a:spcAft>
                <a:spcPts val="0"/>
              </a:spcAft>
              <a:buClr>
                <a:srgbClr val="000000"/>
              </a:buClr>
              <a:buSzPts val="2638"/>
              <a:buFont typeface="Arial"/>
              <a:buNone/>
            </a:pPr>
            <a:endParaRPr lang="en-US" dirty="0">
              <a:latin typeface="+mj-lt"/>
              <a:ea typeface="Times New Roman"/>
              <a:cs typeface="Times New Roman"/>
              <a:sym typeface="Times New Roman"/>
            </a:endParaRPr>
          </a:p>
          <a:p>
            <a:pPr marL="0" indent="0">
              <a:buNone/>
            </a:pPr>
            <a:endParaRPr lang="en-IN" dirty="0">
              <a:latin typeface="+mj-lt"/>
            </a:endParaRPr>
          </a:p>
        </p:txBody>
      </p:sp>
    </p:spTree>
    <p:extLst>
      <p:ext uri="{BB962C8B-B14F-4D97-AF65-F5344CB8AC3E}">
        <p14:creationId xmlns:p14="http://schemas.microsoft.com/office/powerpoint/2010/main" val="971759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1F76D-02D1-141E-17C7-0614B093C558}"/>
              </a:ext>
            </a:extLst>
          </p:cNvPr>
          <p:cNvSpPr>
            <a:spLocks noGrp="1"/>
          </p:cNvSpPr>
          <p:nvPr>
            <p:ph type="title"/>
          </p:nvPr>
        </p:nvSpPr>
        <p:spPr>
          <a:xfrm>
            <a:off x="838200" y="365126"/>
            <a:ext cx="10515600" cy="866516"/>
          </a:xfrm>
        </p:spPr>
        <p:txBody>
          <a:bodyPr/>
          <a:lstStyle/>
          <a:p>
            <a:pPr algn="ctr"/>
            <a:r>
              <a:rPr lang="en-US" dirty="0"/>
              <a:t>Introduction</a:t>
            </a:r>
            <a:endParaRPr lang="en-IN" dirty="0"/>
          </a:p>
        </p:txBody>
      </p:sp>
      <p:sp>
        <p:nvSpPr>
          <p:cNvPr id="3" name="Content Placeholder 2">
            <a:extLst>
              <a:ext uri="{FF2B5EF4-FFF2-40B4-BE49-F238E27FC236}">
                <a16:creationId xmlns:a16="http://schemas.microsoft.com/office/drawing/2014/main" id="{6A005AD2-6124-BFD0-9AB0-8C5AA0A4FFA8}"/>
              </a:ext>
            </a:extLst>
          </p:cNvPr>
          <p:cNvSpPr>
            <a:spLocks noGrp="1"/>
          </p:cNvSpPr>
          <p:nvPr>
            <p:ph idx="1"/>
          </p:nvPr>
        </p:nvSpPr>
        <p:spPr>
          <a:xfrm>
            <a:off x="838200" y="1231642"/>
            <a:ext cx="10515600" cy="5551713"/>
          </a:xfrm>
        </p:spPr>
        <p:txBody>
          <a:bodyPr>
            <a:noAutofit/>
          </a:bodyPr>
          <a:lstStyle/>
          <a:p>
            <a:pPr algn="just"/>
            <a:r>
              <a:rPr lang="en-US" sz="2700" dirty="0"/>
              <a:t>Alzheimer’s disease (AD) is a progressive neurodegenerative disorder that leads to severe cognitive decline and memory loss, significantly affecting patients and their families.</a:t>
            </a:r>
          </a:p>
          <a:p>
            <a:pPr algn="just"/>
            <a:r>
              <a:rPr lang="en-US" sz="2700" dirty="0"/>
              <a:t>Early detection is crucial for managing the disease effectively and slowing its progression.</a:t>
            </a:r>
          </a:p>
          <a:p>
            <a:pPr algn="just"/>
            <a:r>
              <a:rPr lang="en-US" sz="2700" dirty="0"/>
              <a:t>AD progresses slowly in four stages: Mild Cognitive impairment, 	Mild Alzheimer’s, Moderate Alzheimer’s and Severe Alzheimer’s stages</a:t>
            </a:r>
          </a:p>
          <a:p>
            <a:pPr algn="just"/>
            <a:r>
              <a:rPr lang="en-US" sz="2700" dirty="0"/>
              <a:t> Deep learning, a subset of artificial intelligence, offers a powerful approach for identifying AD by analyzing complex data such as MRI scans, genetic information, and clinical records. </a:t>
            </a:r>
          </a:p>
          <a:p>
            <a:pPr algn="just"/>
            <a:r>
              <a:rPr lang="en-US" sz="2700" dirty="0"/>
              <a:t>By leveraging advanced neural networks, deep learning models can uncover subtle patterns indicative of early-stage Alzheimer’s with high accuracy. </a:t>
            </a:r>
          </a:p>
          <a:p>
            <a:endParaRPr lang="en-US" sz="2700" dirty="0"/>
          </a:p>
          <a:p>
            <a:endParaRPr lang="en-US" sz="2700" dirty="0"/>
          </a:p>
          <a:p>
            <a:pPr marL="0" indent="0">
              <a:buNone/>
            </a:pPr>
            <a:endParaRPr lang="en-IN" sz="2700" dirty="0"/>
          </a:p>
        </p:txBody>
      </p:sp>
    </p:spTree>
    <p:extLst>
      <p:ext uri="{BB962C8B-B14F-4D97-AF65-F5344CB8AC3E}">
        <p14:creationId xmlns:p14="http://schemas.microsoft.com/office/powerpoint/2010/main" val="398207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1AF724-D086-86AC-4A96-30EC7A4642DC}"/>
              </a:ext>
            </a:extLst>
          </p:cNvPr>
          <p:cNvSpPr>
            <a:spLocks noGrp="1"/>
          </p:cNvSpPr>
          <p:nvPr>
            <p:ph idx="1"/>
          </p:nvPr>
        </p:nvSpPr>
        <p:spPr>
          <a:xfrm>
            <a:off x="897466" y="1371600"/>
            <a:ext cx="10456333" cy="4805363"/>
          </a:xfrm>
        </p:spPr>
        <p:txBody>
          <a:bodyPr>
            <a:noAutofit/>
          </a:bodyPr>
          <a:lstStyle/>
          <a:p>
            <a:pPr marL="0" indent="0" algn="just">
              <a:buNone/>
            </a:pPr>
            <a:r>
              <a:rPr lang="en-US" sz="2400" b="1" dirty="0"/>
              <a:t>Stages of Alzheimer’s disease:</a:t>
            </a:r>
          </a:p>
          <a:p>
            <a:pPr marL="0" indent="0" algn="just">
              <a:buNone/>
            </a:pPr>
            <a:r>
              <a:rPr lang="en-US" sz="2400" dirty="0"/>
              <a:t> </a:t>
            </a:r>
            <a:r>
              <a:rPr lang="en-US" sz="2400" b="1" dirty="0"/>
              <a:t>1. Mild Cognitive Impairment (MCI) : </a:t>
            </a:r>
            <a:r>
              <a:rPr lang="en-US" sz="2400" dirty="0"/>
              <a:t>MCI is an intermediate stage between normal cognitive aging and dementia. It involves noticeable but not significant memory problems, such as forgetting names or appointments, that do not yet impact daily life</a:t>
            </a:r>
          </a:p>
          <a:p>
            <a:pPr marL="0" indent="0" algn="just">
              <a:buNone/>
            </a:pPr>
            <a:r>
              <a:rPr lang="en-US" sz="2400" b="1" dirty="0"/>
              <a:t>2. Mild Alzheimer's Disease : </a:t>
            </a:r>
            <a:r>
              <a:rPr lang="en-US" sz="2400" dirty="0"/>
              <a:t>In this stage, memory loss and cognitive difficulties become more pronounced. Patients may still be able to function independently but will start to have more noticeable memory lapses.</a:t>
            </a:r>
          </a:p>
          <a:p>
            <a:pPr marL="0" indent="0" algn="just">
              <a:buNone/>
            </a:pPr>
            <a:r>
              <a:rPr lang="en-US" sz="2400" b="1" dirty="0"/>
              <a:t>3. Moderate Alzheimer’s :</a:t>
            </a:r>
            <a:r>
              <a:rPr lang="en-US" sz="2400" dirty="0"/>
              <a:t>This is the longest stage and can last for several years. Cognitive decline and memory loss become more severe, impacting daily living and safety.</a:t>
            </a:r>
          </a:p>
          <a:p>
            <a:pPr marL="0" indent="0" algn="just">
              <a:buNone/>
            </a:pPr>
            <a:r>
              <a:rPr lang="en-US" sz="2400" b="1" dirty="0"/>
              <a:t>4. Severe Alzheimer's Disease : </a:t>
            </a:r>
            <a:r>
              <a:rPr lang="en-US" sz="2400" dirty="0"/>
              <a:t>In the final stage, cognitive decline is profound. Patients lose the ability to respond to their environment, communicate, and control movement.</a:t>
            </a:r>
          </a:p>
          <a:p>
            <a:pPr marL="0" indent="0">
              <a:buNone/>
            </a:pPr>
            <a:endParaRPr lang="en-US" sz="2600" dirty="0"/>
          </a:p>
          <a:p>
            <a:pPr marL="0" indent="0">
              <a:buNone/>
            </a:pPr>
            <a:endParaRPr lang="en-US" sz="2600" dirty="0"/>
          </a:p>
        </p:txBody>
      </p:sp>
      <p:sp>
        <p:nvSpPr>
          <p:cNvPr id="4" name="Title 1">
            <a:extLst>
              <a:ext uri="{FF2B5EF4-FFF2-40B4-BE49-F238E27FC236}">
                <a16:creationId xmlns:a16="http://schemas.microsoft.com/office/drawing/2014/main" id="{37B68C89-36A2-43AF-9398-76E05DF72E2A}"/>
              </a:ext>
            </a:extLst>
          </p:cNvPr>
          <p:cNvSpPr>
            <a:spLocks noGrp="1"/>
          </p:cNvSpPr>
          <p:nvPr>
            <p:ph type="title"/>
          </p:nvPr>
        </p:nvSpPr>
        <p:spPr>
          <a:xfrm>
            <a:off x="838200" y="365126"/>
            <a:ext cx="10515600" cy="866516"/>
          </a:xfrm>
        </p:spPr>
        <p:txBody>
          <a:bodyPr/>
          <a:lstStyle/>
          <a:p>
            <a:pPr algn="ctr"/>
            <a:r>
              <a:rPr lang="en-US" dirty="0"/>
              <a:t>Introduction</a:t>
            </a:r>
            <a:endParaRPr lang="en-IN" dirty="0"/>
          </a:p>
        </p:txBody>
      </p:sp>
    </p:spTree>
    <p:extLst>
      <p:ext uri="{BB962C8B-B14F-4D97-AF65-F5344CB8AC3E}">
        <p14:creationId xmlns:p14="http://schemas.microsoft.com/office/powerpoint/2010/main" val="2061327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99E95-93B4-2058-3C02-85BEE8D60792}"/>
              </a:ext>
            </a:extLst>
          </p:cNvPr>
          <p:cNvSpPr>
            <a:spLocks noGrp="1"/>
          </p:cNvSpPr>
          <p:nvPr>
            <p:ph type="title"/>
          </p:nvPr>
        </p:nvSpPr>
        <p:spPr/>
        <p:txBody>
          <a:bodyPr/>
          <a:lstStyle/>
          <a:p>
            <a:pPr algn="ctr"/>
            <a:r>
              <a:rPr lang="en-US" dirty="0"/>
              <a:t>Motivation </a:t>
            </a:r>
            <a:endParaRPr lang="en-IN" dirty="0"/>
          </a:p>
        </p:txBody>
      </p:sp>
      <p:sp>
        <p:nvSpPr>
          <p:cNvPr id="3" name="Content Placeholder 2">
            <a:extLst>
              <a:ext uri="{FF2B5EF4-FFF2-40B4-BE49-F238E27FC236}">
                <a16:creationId xmlns:a16="http://schemas.microsoft.com/office/drawing/2014/main" id="{6C03D00C-C0EA-91AE-DE1B-910AB94A4F71}"/>
              </a:ext>
            </a:extLst>
          </p:cNvPr>
          <p:cNvSpPr>
            <a:spLocks noGrp="1"/>
          </p:cNvSpPr>
          <p:nvPr>
            <p:ph idx="1"/>
          </p:nvPr>
        </p:nvSpPr>
        <p:spPr/>
        <p:txBody>
          <a:bodyPr>
            <a:normAutofit/>
          </a:bodyPr>
          <a:lstStyle/>
          <a:p>
            <a:pPr algn="just"/>
            <a:r>
              <a:rPr lang="en-US" sz="2700" dirty="0"/>
              <a:t>Worldwide,  55 million people are believed to be living with Alzheimer's disease or other dementias as per International status. If breakthroughs are not discovered, rates could exceed 152 million by 2050.</a:t>
            </a:r>
          </a:p>
          <a:p>
            <a:pPr algn="just"/>
            <a:r>
              <a:rPr lang="en-US" sz="2700" dirty="0"/>
              <a:t>The motivation behind this work is to enhance early detection of Alzheimer’s disease, which is crucial for timely intervention and better management of the condition.</a:t>
            </a:r>
          </a:p>
          <a:p>
            <a:pPr algn="just"/>
            <a:r>
              <a:rPr lang="en-US" sz="2700" dirty="0"/>
              <a:t> Utilizing deep learning techniques can provide a more accurate and efficient analysis of complex medical data, potentially surpassing traditional diagnostic methods.</a:t>
            </a:r>
          </a:p>
        </p:txBody>
      </p:sp>
    </p:spTree>
    <p:extLst>
      <p:ext uri="{BB962C8B-B14F-4D97-AF65-F5344CB8AC3E}">
        <p14:creationId xmlns:p14="http://schemas.microsoft.com/office/powerpoint/2010/main" val="143801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B7A08-7EEE-9508-8BCC-FE29C43D6D64}"/>
              </a:ext>
            </a:extLst>
          </p:cNvPr>
          <p:cNvSpPr>
            <a:spLocks noGrp="1"/>
          </p:cNvSpPr>
          <p:nvPr>
            <p:ph type="title"/>
          </p:nvPr>
        </p:nvSpPr>
        <p:spPr/>
        <p:txBody>
          <a:bodyPr/>
          <a:lstStyle/>
          <a:p>
            <a:pPr algn="ctr"/>
            <a:r>
              <a:rPr lang="en-US" dirty="0"/>
              <a:t>Literature Review</a:t>
            </a:r>
            <a:endParaRPr lang="en-IN" dirty="0"/>
          </a:p>
        </p:txBody>
      </p:sp>
      <p:graphicFrame>
        <p:nvGraphicFramePr>
          <p:cNvPr id="7" name="Content Placeholder 6">
            <a:extLst>
              <a:ext uri="{FF2B5EF4-FFF2-40B4-BE49-F238E27FC236}">
                <a16:creationId xmlns:a16="http://schemas.microsoft.com/office/drawing/2014/main" id="{63ADC6DA-2321-80D2-B6E6-1382A4D66D21}"/>
              </a:ext>
            </a:extLst>
          </p:cNvPr>
          <p:cNvGraphicFramePr>
            <a:graphicFrameLocks noGrp="1"/>
          </p:cNvGraphicFramePr>
          <p:nvPr>
            <p:ph idx="1"/>
            <p:extLst>
              <p:ext uri="{D42A27DB-BD31-4B8C-83A1-F6EECF244321}">
                <p14:modId xmlns:p14="http://schemas.microsoft.com/office/powerpoint/2010/main" val="312009379"/>
              </p:ext>
            </p:extLst>
          </p:nvPr>
        </p:nvGraphicFramePr>
        <p:xfrm>
          <a:off x="918099" y="1284088"/>
          <a:ext cx="10515600" cy="4329439"/>
        </p:xfrm>
        <a:graphic>
          <a:graphicData uri="http://schemas.openxmlformats.org/drawingml/2006/table">
            <a:tbl>
              <a:tblPr firstRow="1" bandRow="1">
                <a:tableStyleId>{5C22544A-7EE6-4342-B048-85BDC9FD1C3A}</a:tableStyleId>
              </a:tblPr>
              <a:tblGrid>
                <a:gridCol w="777536">
                  <a:extLst>
                    <a:ext uri="{9D8B030D-6E8A-4147-A177-3AD203B41FA5}">
                      <a16:colId xmlns:a16="http://schemas.microsoft.com/office/drawing/2014/main" val="3738337437"/>
                    </a:ext>
                  </a:extLst>
                </a:gridCol>
                <a:gridCol w="3428704">
                  <a:extLst>
                    <a:ext uri="{9D8B030D-6E8A-4147-A177-3AD203B41FA5}">
                      <a16:colId xmlns:a16="http://schemas.microsoft.com/office/drawing/2014/main" val="1613143239"/>
                    </a:ext>
                  </a:extLst>
                </a:gridCol>
                <a:gridCol w="1640445">
                  <a:extLst>
                    <a:ext uri="{9D8B030D-6E8A-4147-A177-3AD203B41FA5}">
                      <a16:colId xmlns:a16="http://schemas.microsoft.com/office/drawing/2014/main" val="2894236051"/>
                    </a:ext>
                  </a:extLst>
                </a:gridCol>
                <a:gridCol w="1603712">
                  <a:extLst>
                    <a:ext uri="{9D8B030D-6E8A-4147-A177-3AD203B41FA5}">
                      <a16:colId xmlns:a16="http://schemas.microsoft.com/office/drawing/2014/main" val="1928107939"/>
                    </a:ext>
                  </a:extLst>
                </a:gridCol>
                <a:gridCol w="3065203">
                  <a:extLst>
                    <a:ext uri="{9D8B030D-6E8A-4147-A177-3AD203B41FA5}">
                      <a16:colId xmlns:a16="http://schemas.microsoft.com/office/drawing/2014/main" val="3443540812"/>
                    </a:ext>
                  </a:extLst>
                </a:gridCol>
              </a:tblGrid>
              <a:tr h="273357">
                <a:tc>
                  <a:txBody>
                    <a:bodyPr/>
                    <a:lstStyle/>
                    <a:p>
                      <a:r>
                        <a:rPr lang="en-US" dirty="0"/>
                        <a:t>S.No</a:t>
                      </a:r>
                    </a:p>
                  </a:txBody>
                  <a:tcPr/>
                </a:tc>
                <a:tc>
                  <a:txBody>
                    <a:bodyPr/>
                    <a:lstStyle/>
                    <a:p>
                      <a:r>
                        <a:rPr lang="en-US" dirty="0"/>
                        <a:t>                      TITLE </a:t>
                      </a:r>
                    </a:p>
                  </a:txBody>
                  <a:tcPr/>
                </a:tc>
                <a:tc>
                  <a:txBody>
                    <a:bodyPr/>
                    <a:lstStyle/>
                    <a:p>
                      <a:r>
                        <a:rPr lang="en-US" dirty="0"/>
                        <a:t>     AUTHOR</a:t>
                      </a:r>
                    </a:p>
                  </a:txBody>
                  <a:tcPr/>
                </a:tc>
                <a:tc>
                  <a:txBody>
                    <a:bodyPr/>
                    <a:lstStyle/>
                    <a:p>
                      <a:pPr algn="ctr"/>
                      <a:r>
                        <a:rPr lang="en-US" dirty="0"/>
                        <a:t>JOURNAL</a:t>
                      </a:r>
                    </a:p>
                  </a:txBody>
                  <a:tcPr/>
                </a:tc>
                <a:tc>
                  <a:txBody>
                    <a:bodyPr/>
                    <a:lstStyle/>
                    <a:p>
                      <a:r>
                        <a:rPr lang="en-US" dirty="0"/>
                        <a:t>      INFERENCE</a:t>
                      </a:r>
                    </a:p>
                  </a:txBody>
                  <a:tcPr/>
                </a:tc>
                <a:extLst>
                  <a:ext uri="{0D108BD9-81ED-4DB2-BD59-A6C34878D82A}">
                    <a16:rowId xmlns:a16="http://schemas.microsoft.com/office/drawing/2014/main" val="666006497"/>
                  </a:ext>
                </a:extLst>
              </a:tr>
              <a:tr h="3963679">
                <a:tc>
                  <a:txBody>
                    <a:bodyPr/>
                    <a:lstStyle/>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A deep learning model for Alzheimer’s disease diagnosis based on patient clinical records</a:t>
                      </a:r>
                    </a:p>
                    <a:p>
                      <a:endParaRPr lang="en-US" dirty="0"/>
                    </a:p>
                  </a:txBody>
                  <a:tcPr/>
                </a:tc>
                <a:tc>
                  <a:txBody>
                    <a:bodyPr/>
                    <a:lstStyle/>
                    <a:p>
                      <a:r>
                        <a:rPr lang="en-US" dirty="0">
                          <a:effectLst/>
                        </a:rPr>
                        <a:t>J.L. Ávila-Jiménez </a:t>
                      </a:r>
                      <a:r>
                        <a:rPr lang="en-US" sz="1800" b="0" i="0" kern="1200" dirty="0">
                          <a:solidFill>
                            <a:schemeClr val="dk1"/>
                          </a:solidFill>
                          <a:effectLst/>
                          <a:latin typeface="+mn-lt"/>
                          <a:ea typeface="+mn-ea"/>
                          <a:cs typeface="+mn-cs"/>
                        </a:rPr>
                        <a:t>, </a:t>
                      </a:r>
                      <a:r>
                        <a:rPr lang="en-US" dirty="0">
                          <a:effectLst/>
                        </a:rPr>
                        <a:t>Vanesa Cantón-Habas </a:t>
                      </a:r>
                      <a:r>
                        <a:rPr lang="en-US" sz="1800" b="0" i="0" kern="1200" dirty="0">
                          <a:solidFill>
                            <a:schemeClr val="dk1"/>
                          </a:solidFill>
                          <a:effectLst/>
                          <a:latin typeface="+mn-lt"/>
                          <a:ea typeface="+mn-ea"/>
                          <a:cs typeface="+mn-cs"/>
                        </a:rPr>
                        <a:t>, </a:t>
                      </a:r>
                      <a:r>
                        <a:rPr lang="en-US" dirty="0">
                          <a:effectLst/>
                        </a:rPr>
                        <a:t>María del Pilar Carrera-González</a:t>
                      </a:r>
                      <a:r>
                        <a:rPr lang="en-US" sz="1800" b="0" i="0" kern="1200" dirty="0">
                          <a:solidFill>
                            <a:schemeClr val="dk1"/>
                          </a:solidFill>
                          <a:effectLst/>
                          <a:latin typeface="+mn-lt"/>
                          <a:ea typeface="+mn-ea"/>
                          <a:cs typeface="+mn-cs"/>
                        </a:rPr>
                        <a:t>,</a:t>
                      </a:r>
                    </a:p>
                    <a:p>
                      <a:r>
                        <a:rPr lang="en-US" sz="1800" b="0" i="0" kern="1200" dirty="0">
                          <a:solidFill>
                            <a:schemeClr val="dk1"/>
                          </a:solidFill>
                          <a:effectLst/>
                          <a:latin typeface="+mn-lt"/>
                          <a:ea typeface="+mn-ea"/>
                          <a:cs typeface="+mn-cs"/>
                        </a:rPr>
                        <a:t> </a:t>
                      </a:r>
                      <a:r>
                        <a:rPr lang="en-US" dirty="0">
                          <a:effectLst/>
                        </a:rPr>
                        <a:t>Manuel Rich-Ruiz </a:t>
                      </a:r>
                      <a:r>
                        <a:rPr lang="en-US" sz="1800" b="0" i="0" kern="1200" baseline="30000" dirty="0">
                          <a:solidFill>
                            <a:schemeClr val="dk1"/>
                          </a:solidFill>
                          <a:effectLst/>
                          <a:latin typeface="+mn-lt"/>
                          <a:ea typeface="+mn-ea"/>
                          <a:cs typeface="+mn-cs"/>
                        </a:rPr>
                        <a:t>,</a:t>
                      </a:r>
                    </a:p>
                    <a:p>
                      <a:r>
                        <a:rPr lang="en-US" sz="1800" b="0" i="0" kern="1200" dirty="0">
                          <a:solidFill>
                            <a:schemeClr val="dk1"/>
                          </a:solidFill>
                          <a:effectLst/>
                          <a:latin typeface="+mn-lt"/>
                          <a:ea typeface="+mn-ea"/>
                          <a:cs typeface="+mn-cs"/>
                        </a:rPr>
                        <a:t> </a:t>
                      </a:r>
                      <a:r>
                        <a:rPr lang="en-US" dirty="0">
                          <a:effectLst/>
                        </a:rPr>
                        <a:t>Sebastián Ventura </a:t>
                      </a:r>
                      <a:endParaRPr lang="en-US" dirty="0"/>
                    </a:p>
                  </a:txBody>
                  <a:tcPr/>
                </a:tc>
                <a:tc>
                  <a:txBody>
                    <a:bodyPr/>
                    <a:lstStyle/>
                    <a:p>
                      <a:r>
                        <a:rPr lang="en-US" i="1" dirty="0"/>
                        <a:t>Computers in Biology and Medicine, Volume 169, February 2024</a:t>
                      </a:r>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In this paper the authors have proposed methods to develop an ANN tailored to analyze clinical data from patients diagnosed with dementia, with the primary goal of automating Alzheimer’s disease (AD)</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proposed model demonstrates a competitive edge over K-Nearest Neighbors (KNN) and CART models with an accuracy of 79.5%</a:t>
                      </a:r>
                      <a:endParaRPr lang="en-US" dirty="0"/>
                    </a:p>
                  </a:txBody>
                  <a:tcPr/>
                </a:tc>
                <a:extLst>
                  <a:ext uri="{0D108BD9-81ED-4DB2-BD59-A6C34878D82A}">
                    <a16:rowId xmlns:a16="http://schemas.microsoft.com/office/drawing/2014/main" val="3238725085"/>
                  </a:ext>
                </a:extLst>
              </a:tr>
            </a:tbl>
          </a:graphicData>
        </a:graphic>
      </p:graphicFrame>
    </p:spTree>
    <p:extLst>
      <p:ext uri="{BB962C8B-B14F-4D97-AF65-F5344CB8AC3E}">
        <p14:creationId xmlns:p14="http://schemas.microsoft.com/office/powerpoint/2010/main" val="1495015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B7A08-7EEE-9508-8BCC-FE29C43D6D64}"/>
              </a:ext>
            </a:extLst>
          </p:cNvPr>
          <p:cNvSpPr>
            <a:spLocks noGrp="1"/>
          </p:cNvSpPr>
          <p:nvPr>
            <p:ph type="title"/>
          </p:nvPr>
        </p:nvSpPr>
        <p:spPr/>
        <p:txBody>
          <a:bodyPr/>
          <a:lstStyle/>
          <a:p>
            <a:pPr algn="ctr"/>
            <a:r>
              <a:rPr lang="en-US" dirty="0"/>
              <a:t>Literature Review</a:t>
            </a:r>
            <a:endParaRPr lang="en-IN" dirty="0"/>
          </a:p>
        </p:txBody>
      </p:sp>
      <p:graphicFrame>
        <p:nvGraphicFramePr>
          <p:cNvPr id="7" name="Content Placeholder 6">
            <a:extLst>
              <a:ext uri="{FF2B5EF4-FFF2-40B4-BE49-F238E27FC236}">
                <a16:creationId xmlns:a16="http://schemas.microsoft.com/office/drawing/2014/main" id="{63ADC6DA-2321-80D2-B6E6-1382A4D66D21}"/>
              </a:ext>
            </a:extLst>
          </p:cNvPr>
          <p:cNvGraphicFramePr>
            <a:graphicFrameLocks noGrp="1"/>
          </p:cNvGraphicFramePr>
          <p:nvPr>
            <p:ph idx="1"/>
            <p:extLst>
              <p:ext uri="{D42A27DB-BD31-4B8C-83A1-F6EECF244321}">
                <p14:modId xmlns:p14="http://schemas.microsoft.com/office/powerpoint/2010/main" val="3728049786"/>
              </p:ext>
            </p:extLst>
          </p:nvPr>
        </p:nvGraphicFramePr>
        <p:xfrm>
          <a:off x="838200" y="1372235"/>
          <a:ext cx="10515600" cy="4953679"/>
        </p:xfrm>
        <a:graphic>
          <a:graphicData uri="http://schemas.openxmlformats.org/drawingml/2006/table">
            <a:tbl>
              <a:tblPr firstRow="1" bandRow="1">
                <a:tableStyleId>{5C22544A-7EE6-4342-B048-85BDC9FD1C3A}</a:tableStyleId>
              </a:tblPr>
              <a:tblGrid>
                <a:gridCol w="777536">
                  <a:extLst>
                    <a:ext uri="{9D8B030D-6E8A-4147-A177-3AD203B41FA5}">
                      <a16:colId xmlns:a16="http://schemas.microsoft.com/office/drawing/2014/main" val="3738337437"/>
                    </a:ext>
                  </a:extLst>
                </a:gridCol>
                <a:gridCol w="2701621">
                  <a:extLst>
                    <a:ext uri="{9D8B030D-6E8A-4147-A177-3AD203B41FA5}">
                      <a16:colId xmlns:a16="http://schemas.microsoft.com/office/drawing/2014/main" val="1613143239"/>
                    </a:ext>
                  </a:extLst>
                </a:gridCol>
                <a:gridCol w="2367528">
                  <a:extLst>
                    <a:ext uri="{9D8B030D-6E8A-4147-A177-3AD203B41FA5}">
                      <a16:colId xmlns:a16="http://schemas.microsoft.com/office/drawing/2014/main" val="2894236051"/>
                    </a:ext>
                  </a:extLst>
                </a:gridCol>
                <a:gridCol w="1313221">
                  <a:extLst>
                    <a:ext uri="{9D8B030D-6E8A-4147-A177-3AD203B41FA5}">
                      <a16:colId xmlns:a16="http://schemas.microsoft.com/office/drawing/2014/main" val="1928107939"/>
                    </a:ext>
                  </a:extLst>
                </a:gridCol>
                <a:gridCol w="3355694">
                  <a:extLst>
                    <a:ext uri="{9D8B030D-6E8A-4147-A177-3AD203B41FA5}">
                      <a16:colId xmlns:a16="http://schemas.microsoft.com/office/drawing/2014/main" val="3443540812"/>
                    </a:ext>
                  </a:extLst>
                </a:gridCol>
              </a:tblGrid>
              <a:tr h="473119">
                <a:tc>
                  <a:txBody>
                    <a:bodyPr/>
                    <a:lstStyle/>
                    <a:p>
                      <a:r>
                        <a:rPr lang="en-US" dirty="0"/>
                        <a:t>S.No</a:t>
                      </a:r>
                    </a:p>
                  </a:txBody>
                  <a:tcPr/>
                </a:tc>
                <a:tc>
                  <a:txBody>
                    <a:bodyPr/>
                    <a:lstStyle/>
                    <a:p>
                      <a:r>
                        <a:rPr lang="en-US" dirty="0"/>
                        <a:t>                      TITLE </a:t>
                      </a:r>
                    </a:p>
                  </a:txBody>
                  <a:tcPr/>
                </a:tc>
                <a:tc>
                  <a:txBody>
                    <a:bodyPr/>
                    <a:lstStyle/>
                    <a:p>
                      <a:r>
                        <a:rPr lang="en-US" dirty="0"/>
                        <a:t>     AUTHOR</a:t>
                      </a:r>
                    </a:p>
                  </a:txBody>
                  <a:tcPr/>
                </a:tc>
                <a:tc>
                  <a:txBody>
                    <a:bodyPr/>
                    <a:lstStyle/>
                    <a:p>
                      <a:pPr algn="ctr"/>
                      <a:r>
                        <a:rPr lang="en-US" dirty="0"/>
                        <a:t>JOURNAL</a:t>
                      </a:r>
                    </a:p>
                  </a:txBody>
                  <a:tcPr/>
                </a:tc>
                <a:tc>
                  <a:txBody>
                    <a:bodyPr/>
                    <a:lstStyle/>
                    <a:p>
                      <a:r>
                        <a:rPr lang="en-US" dirty="0"/>
                        <a:t>      INFERENCE</a:t>
                      </a:r>
                    </a:p>
                  </a:txBody>
                  <a:tcPr/>
                </a:tc>
                <a:extLst>
                  <a:ext uri="{0D108BD9-81ED-4DB2-BD59-A6C34878D82A}">
                    <a16:rowId xmlns:a16="http://schemas.microsoft.com/office/drawing/2014/main" val="666006497"/>
                  </a:ext>
                </a:extLst>
              </a:tr>
              <a:tr h="4474423">
                <a:tc>
                  <a:txBody>
                    <a:bodyPr/>
                    <a:lstStyle/>
                    <a:p>
                      <a:r>
                        <a:rPr lang="en-US" dirty="0"/>
                        <a:t>2.</a:t>
                      </a:r>
                    </a:p>
                  </a:txBody>
                  <a:tcPr/>
                </a:tc>
                <a:tc>
                  <a:txBody>
                    <a:bodyPr/>
                    <a:lstStyle/>
                    <a:p>
                      <a:r>
                        <a:rPr lang="en-US" sz="1800" b="1" i="0" kern="1200" dirty="0">
                          <a:solidFill>
                            <a:schemeClr val="dk1"/>
                          </a:solidFill>
                          <a:effectLst/>
                          <a:latin typeface="+mn-lt"/>
                          <a:ea typeface="+mn-ea"/>
                          <a:cs typeface="+mn-cs"/>
                        </a:rPr>
                        <a:t>Multi-modality MRI for Alzheimer’s disease detection using deep learning</a:t>
                      </a:r>
                    </a:p>
                    <a:p>
                      <a:endParaRPr lang="en-US" dirty="0"/>
                    </a:p>
                  </a:txBody>
                  <a:tcPr/>
                </a:tc>
                <a:tc>
                  <a:txBody>
                    <a:bodyPr/>
                    <a:lstStyle/>
                    <a:p>
                      <a:r>
                        <a:rPr lang="en-US" sz="1800" kern="1200" dirty="0">
                          <a:solidFill>
                            <a:schemeClr val="dk1"/>
                          </a:solidFill>
                          <a:effectLst/>
                          <a:latin typeface="+mn-lt"/>
                          <a:ea typeface="+mn-ea"/>
                          <a:cs typeface="+mn-cs"/>
                        </a:rPr>
                        <a:t>Latifa Houria</a:t>
                      </a:r>
                      <a:r>
                        <a:rPr lang="en-US" dirty="0"/>
                        <a:t>, </a:t>
                      </a:r>
                    </a:p>
                    <a:p>
                      <a:r>
                        <a:rPr lang="en-US" sz="1800" kern="1200" dirty="0">
                          <a:solidFill>
                            <a:schemeClr val="dk1"/>
                          </a:solidFill>
                          <a:effectLst/>
                          <a:latin typeface="+mn-lt"/>
                          <a:ea typeface="+mn-ea"/>
                          <a:cs typeface="+mn-cs"/>
                        </a:rPr>
                        <a:t>Noureddine Belkhamsa</a:t>
                      </a:r>
                      <a:r>
                        <a:rPr lang="en-US" dirty="0"/>
                        <a:t>,</a:t>
                      </a:r>
                    </a:p>
                    <a:p>
                      <a:r>
                        <a:rPr lang="en-US" sz="1800" kern="1200" dirty="0">
                          <a:solidFill>
                            <a:schemeClr val="dk1"/>
                          </a:solidFill>
                          <a:effectLst/>
                          <a:latin typeface="+mn-lt"/>
                          <a:ea typeface="+mn-ea"/>
                          <a:cs typeface="+mn-cs"/>
                        </a:rPr>
                        <a:t>Assia Cherfa</a:t>
                      </a:r>
                      <a:r>
                        <a:rPr lang="en-US" dirty="0"/>
                        <a:t> &amp; </a:t>
                      </a:r>
                      <a:r>
                        <a:rPr lang="en-US" sz="1800" kern="1200" dirty="0">
                          <a:solidFill>
                            <a:schemeClr val="dk1"/>
                          </a:solidFill>
                          <a:effectLst/>
                          <a:latin typeface="+mn-lt"/>
                          <a:ea typeface="+mn-ea"/>
                          <a:cs typeface="+mn-cs"/>
                        </a:rPr>
                        <a:t>Yazid Cherfa</a:t>
                      </a:r>
                      <a:endParaRPr lang="en-US" dirty="0"/>
                    </a:p>
                  </a:txBody>
                  <a:tcPr/>
                </a:tc>
                <a:tc>
                  <a:txBody>
                    <a:bodyPr/>
                    <a:lstStyle/>
                    <a:p>
                      <a:r>
                        <a:rPr lang="en-US" i="1" dirty="0"/>
                        <a:t>Physical and Engineering Sciences in Medicine, 2022</a:t>
                      </a:r>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In this paper the authors proposed a computer-assisted diagnosis for Alzheimer’s disease classification using multimodality MRI imaging. </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authors have used a new CNN to extract features from DTI-FA, DTI-MD, and GM images. Deep features are concatenated and fed to the SVM classifier </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model achieved a classification accuracy of 99.79%, 99.85%, and 97.00% for AD/CN, AD/MCI, and CN/MCI, respectively.</a:t>
                      </a:r>
                      <a:endParaRPr lang="en-US" dirty="0"/>
                    </a:p>
                  </a:txBody>
                  <a:tcPr/>
                </a:tc>
                <a:extLst>
                  <a:ext uri="{0D108BD9-81ED-4DB2-BD59-A6C34878D82A}">
                    <a16:rowId xmlns:a16="http://schemas.microsoft.com/office/drawing/2014/main" val="3238725085"/>
                  </a:ext>
                </a:extLst>
              </a:tr>
            </a:tbl>
          </a:graphicData>
        </a:graphic>
      </p:graphicFrame>
    </p:spTree>
    <p:extLst>
      <p:ext uri="{BB962C8B-B14F-4D97-AF65-F5344CB8AC3E}">
        <p14:creationId xmlns:p14="http://schemas.microsoft.com/office/powerpoint/2010/main" val="909937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B7A08-7EEE-9508-8BCC-FE29C43D6D64}"/>
              </a:ext>
            </a:extLst>
          </p:cNvPr>
          <p:cNvSpPr>
            <a:spLocks noGrp="1"/>
          </p:cNvSpPr>
          <p:nvPr>
            <p:ph type="title"/>
          </p:nvPr>
        </p:nvSpPr>
        <p:spPr/>
        <p:txBody>
          <a:bodyPr/>
          <a:lstStyle/>
          <a:p>
            <a:pPr algn="ctr"/>
            <a:r>
              <a:rPr lang="en-US" dirty="0"/>
              <a:t>Literature Review</a:t>
            </a:r>
            <a:endParaRPr lang="en-IN" dirty="0"/>
          </a:p>
        </p:txBody>
      </p:sp>
      <p:graphicFrame>
        <p:nvGraphicFramePr>
          <p:cNvPr id="7" name="Content Placeholder 6">
            <a:extLst>
              <a:ext uri="{FF2B5EF4-FFF2-40B4-BE49-F238E27FC236}">
                <a16:creationId xmlns:a16="http://schemas.microsoft.com/office/drawing/2014/main" id="{63ADC6DA-2321-80D2-B6E6-1382A4D66D21}"/>
              </a:ext>
            </a:extLst>
          </p:cNvPr>
          <p:cNvGraphicFramePr>
            <a:graphicFrameLocks noGrp="1"/>
          </p:cNvGraphicFramePr>
          <p:nvPr>
            <p:ph idx="1"/>
            <p:extLst>
              <p:ext uri="{D42A27DB-BD31-4B8C-83A1-F6EECF244321}">
                <p14:modId xmlns:p14="http://schemas.microsoft.com/office/powerpoint/2010/main" val="191734231"/>
              </p:ext>
            </p:extLst>
          </p:nvPr>
        </p:nvGraphicFramePr>
        <p:xfrm>
          <a:off x="838200" y="1825625"/>
          <a:ext cx="10515600" cy="4450000"/>
        </p:xfrm>
        <a:graphic>
          <a:graphicData uri="http://schemas.openxmlformats.org/drawingml/2006/table">
            <a:tbl>
              <a:tblPr firstRow="1" bandRow="1">
                <a:tableStyleId>{5C22544A-7EE6-4342-B048-85BDC9FD1C3A}</a:tableStyleId>
              </a:tblPr>
              <a:tblGrid>
                <a:gridCol w="777536">
                  <a:extLst>
                    <a:ext uri="{9D8B030D-6E8A-4147-A177-3AD203B41FA5}">
                      <a16:colId xmlns:a16="http://schemas.microsoft.com/office/drawing/2014/main" val="3738337437"/>
                    </a:ext>
                  </a:extLst>
                </a:gridCol>
                <a:gridCol w="3428704">
                  <a:extLst>
                    <a:ext uri="{9D8B030D-6E8A-4147-A177-3AD203B41FA5}">
                      <a16:colId xmlns:a16="http://schemas.microsoft.com/office/drawing/2014/main" val="1613143239"/>
                    </a:ext>
                  </a:extLst>
                </a:gridCol>
                <a:gridCol w="1124866">
                  <a:extLst>
                    <a:ext uri="{9D8B030D-6E8A-4147-A177-3AD203B41FA5}">
                      <a16:colId xmlns:a16="http://schemas.microsoft.com/office/drawing/2014/main" val="2894236051"/>
                    </a:ext>
                  </a:extLst>
                </a:gridCol>
                <a:gridCol w="1701479">
                  <a:extLst>
                    <a:ext uri="{9D8B030D-6E8A-4147-A177-3AD203B41FA5}">
                      <a16:colId xmlns:a16="http://schemas.microsoft.com/office/drawing/2014/main" val="1928107939"/>
                    </a:ext>
                  </a:extLst>
                </a:gridCol>
                <a:gridCol w="3483015">
                  <a:extLst>
                    <a:ext uri="{9D8B030D-6E8A-4147-A177-3AD203B41FA5}">
                      <a16:colId xmlns:a16="http://schemas.microsoft.com/office/drawing/2014/main" val="3443540812"/>
                    </a:ext>
                  </a:extLst>
                </a:gridCol>
              </a:tblGrid>
              <a:tr h="518080">
                <a:tc>
                  <a:txBody>
                    <a:bodyPr/>
                    <a:lstStyle/>
                    <a:p>
                      <a:r>
                        <a:rPr lang="en-US" dirty="0"/>
                        <a:t>S.No</a:t>
                      </a:r>
                    </a:p>
                  </a:txBody>
                  <a:tcPr/>
                </a:tc>
                <a:tc>
                  <a:txBody>
                    <a:bodyPr/>
                    <a:lstStyle/>
                    <a:p>
                      <a:r>
                        <a:rPr lang="en-US" dirty="0"/>
                        <a:t>                      TITLE </a:t>
                      </a:r>
                    </a:p>
                  </a:txBody>
                  <a:tcPr/>
                </a:tc>
                <a:tc>
                  <a:txBody>
                    <a:bodyPr/>
                    <a:lstStyle/>
                    <a:p>
                      <a:r>
                        <a:rPr lang="en-US" dirty="0"/>
                        <a:t> AUTHOR </a:t>
                      </a:r>
                    </a:p>
                  </a:txBody>
                  <a:tcPr/>
                </a:tc>
                <a:tc>
                  <a:txBody>
                    <a:bodyPr/>
                    <a:lstStyle/>
                    <a:p>
                      <a:pPr algn="ctr"/>
                      <a:r>
                        <a:rPr lang="en-US" dirty="0"/>
                        <a:t> JOURNAL</a:t>
                      </a:r>
                    </a:p>
                  </a:txBody>
                  <a:tcPr/>
                </a:tc>
                <a:tc>
                  <a:txBody>
                    <a:bodyPr/>
                    <a:lstStyle/>
                    <a:p>
                      <a:r>
                        <a:rPr lang="en-US" dirty="0"/>
                        <a:t>      INFERENCE</a:t>
                      </a:r>
                    </a:p>
                  </a:txBody>
                  <a:tcPr/>
                </a:tc>
                <a:extLst>
                  <a:ext uri="{0D108BD9-81ED-4DB2-BD59-A6C34878D82A}">
                    <a16:rowId xmlns:a16="http://schemas.microsoft.com/office/drawing/2014/main" val="666006497"/>
                  </a:ext>
                </a:extLst>
              </a:tr>
              <a:tr h="3391431">
                <a:tc>
                  <a:txBody>
                    <a:bodyPr/>
                    <a:lstStyle/>
                    <a:p>
                      <a:r>
                        <a:rPr lang="en-US"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Alzheimer’s disease diagnosis and classification using deep learning techniques</a:t>
                      </a:r>
                    </a:p>
                    <a:p>
                      <a:endParaRPr lang="en-US" dirty="0"/>
                    </a:p>
                  </a:txBody>
                  <a:tcPr/>
                </a:tc>
                <a:tc>
                  <a:txBody>
                    <a:bodyPr/>
                    <a:lstStyle/>
                    <a:p>
                      <a:r>
                        <a:rPr lang="en-US" sz="1800" b="0" i="0" u="none" strike="noStrike" kern="1200" dirty="0">
                          <a:solidFill>
                            <a:schemeClr val="dk1"/>
                          </a:solidFill>
                          <a:effectLst/>
                          <a:latin typeface="+mn-lt"/>
                          <a:ea typeface="+mn-ea"/>
                          <a:cs typeface="+mn-cs"/>
                        </a:rPr>
                        <a:t>Waleed Al Shehri</a:t>
                      </a:r>
                      <a:endParaRPr lang="en-US" dirty="0"/>
                    </a:p>
                  </a:txBody>
                  <a:tcPr/>
                </a:tc>
                <a:tc>
                  <a:txBody>
                    <a:bodyPr/>
                    <a:lstStyle/>
                    <a:p>
                      <a:r>
                        <a:rPr lang="en-US" i="1" dirty="0"/>
                        <a:t>PeerJ Computer Science, 2022</a:t>
                      </a:r>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In this paper the author suggests a deep learning-based method for diagnosing and classifying Alzheimer’s disease utilizing the DenseNet-169 and ResNet-50 CNN architectures</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DenseNet-169 architecture outperformed in the training and testing phases. </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training and testing accuracy values for DenseNet-169 are 0.977 and 0.8382, while the accuracy values for ResNet-50 were 0.8870 and 0.8192.</a:t>
                      </a:r>
                      <a:endParaRPr lang="en-US" dirty="0"/>
                    </a:p>
                  </a:txBody>
                  <a:tcPr/>
                </a:tc>
                <a:extLst>
                  <a:ext uri="{0D108BD9-81ED-4DB2-BD59-A6C34878D82A}">
                    <a16:rowId xmlns:a16="http://schemas.microsoft.com/office/drawing/2014/main" val="3238725085"/>
                  </a:ext>
                </a:extLst>
              </a:tr>
            </a:tbl>
          </a:graphicData>
        </a:graphic>
      </p:graphicFrame>
    </p:spTree>
    <p:extLst>
      <p:ext uri="{BB962C8B-B14F-4D97-AF65-F5344CB8AC3E}">
        <p14:creationId xmlns:p14="http://schemas.microsoft.com/office/powerpoint/2010/main" val="603826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B7A08-7EEE-9508-8BCC-FE29C43D6D64}"/>
              </a:ext>
            </a:extLst>
          </p:cNvPr>
          <p:cNvSpPr>
            <a:spLocks noGrp="1"/>
          </p:cNvSpPr>
          <p:nvPr>
            <p:ph type="title"/>
          </p:nvPr>
        </p:nvSpPr>
        <p:spPr/>
        <p:txBody>
          <a:bodyPr/>
          <a:lstStyle/>
          <a:p>
            <a:pPr algn="ctr"/>
            <a:r>
              <a:rPr lang="en-US" dirty="0"/>
              <a:t>Literature Review</a:t>
            </a:r>
            <a:endParaRPr lang="en-IN" dirty="0"/>
          </a:p>
        </p:txBody>
      </p:sp>
      <p:graphicFrame>
        <p:nvGraphicFramePr>
          <p:cNvPr id="7" name="Content Placeholder 6">
            <a:extLst>
              <a:ext uri="{FF2B5EF4-FFF2-40B4-BE49-F238E27FC236}">
                <a16:creationId xmlns:a16="http://schemas.microsoft.com/office/drawing/2014/main" id="{63ADC6DA-2321-80D2-B6E6-1382A4D66D21}"/>
              </a:ext>
            </a:extLst>
          </p:cNvPr>
          <p:cNvGraphicFramePr>
            <a:graphicFrameLocks noGrp="1"/>
          </p:cNvGraphicFramePr>
          <p:nvPr>
            <p:ph idx="1"/>
            <p:extLst>
              <p:ext uri="{D42A27DB-BD31-4B8C-83A1-F6EECF244321}">
                <p14:modId xmlns:p14="http://schemas.microsoft.com/office/powerpoint/2010/main" val="2649002151"/>
              </p:ext>
            </p:extLst>
          </p:nvPr>
        </p:nvGraphicFramePr>
        <p:xfrm>
          <a:off x="838200" y="1825625"/>
          <a:ext cx="10515600" cy="4203001"/>
        </p:xfrm>
        <a:graphic>
          <a:graphicData uri="http://schemas.openxmlformats.org/drawingml/2006/table">
            <a:tbl>
              <a:tblPr firstRow="1" bandRow="1">
                <a:tableStyleId>{5C22544A-7EE6-4342-B048-85BDC9FD1C3A}</a:tableStyleId>
              </a:tblPr>
              <a:tblGrid>
                <a:gridCol w="777536">
                  <a:extLst>
                    <a:ext uri="{9D8B030D-6E8A-4147-A177-3AD203B41FA5}">
                      <a16:colId xmlns:a16="http://schemas.microsoft.com/office/drawing/2014/main" val="3738337437"/>
                    </a:ext>
                  </a:extLst>
                </a:gridCol>
                <a:gridCol w="3060436">
                  <a:extLst>
                    <a:ext uri="{9D8B030D-6E8A-4147-A177-3AD203B41FA5}">
                      <a16:colId xmlns:a16="http://schemas.microsoft.com/office/drawing/2014/main" val="1613143239"/>
                    </a:ext>
                  </a:extLst>
                </a:gridCol>
                <a:gridCol w="2008713">
                  <a:extLst>
                    <a:ext uri="{9D8B030D-6E8A-4147-A177-3AD203B41FA5}">
                      <a16:colId xmlns:a16="http://schemas.microsoft.com/office/drawing/2014/main" val="2894236051"/>
                    </a:ext>
                  </a:extLst>
                </a:gridCol>
                <a:gridCol w="1891956">
                  <a:extLst>
                    <a:ext uri="{9D8B030D-6E8A-4147-A177-3AD203B41FA5}">
                      <a16:colId xmlns:a16="http://schemas.microsoft.com/office/drawing/2014/main" val="1928107939"/>
                    </a:ext>
                  </a:extLst>
                </a:gridCol>
                <a:gridCol w="2776959">
                  <a:extLst>
                    <a:ext uri="{9D8B030D-6E8A-4147-A177-3AD203B41FA5}">
                      <a16:colId xmlns:a16="http://schemas.microsoft.com/office/drawing/2014/main" val="3443540812"/>
                    </a:ext>
                  </a:extLst>
                </a:gridCol>
              </a:tblGrid>
              <a:tr h="651245">
                <a:tc>
                  <a:txBody>
                    <a:bodyPr/>
                    <a:lstStyle/>
                    <a:p>
                      <a:r>
                        <a:rPr lang="en-US" dirty="0"/>
                        <a:t>S.No</a:t>
                      </a:r>
                    </a:p>
                  </a:txBody>
                  <a:tcPr/>
                </a:tc>
                <a:tc>
                  <a:txBody>
                    <a:bodyPr/>
                    <a:lstStyle/>
                    <a:p>
                      <a:r>
                        <a:rPr lang="en-US" dirty="0"/>
                        <a:t>                      TITLE </a:t>
                      </a:r>
                    </a:p>
                  </a:txBody>
                  <a:tcPr/>
                </a:tc>
                <a:tc>
                  <a:txBody>
                    <a:bodyPr/>
                    <a:lstStyle/>
                    <a:p>
                      <a:r>
                        <a:rPr lang="en-US" dirty="0"/>
                        <a:t>     AUTHOR</a:t>
                      </a:r>
                    </a:p>
                  </a:txBody>
                  <a:tcPr/>
                </a:tc>
                <a:tc>
                  <a:txBody>
                    <a:bodyPr/>
                    <a:lstStyle/>
                    <a:p>
                      <a:pPr algn="ctr"/>
                      <a:r>
                        <a:rPr lang="en-US" dirty="0"/>
                        <a:t>JOURNAL</a:t>
                      </a:r>
                    </a:p>
                  </a:txBody>
                  <a:tcPr/>
                </a:tc>
                <a:tc>
                  <a:txBody>
                    <a:bodyPr/>
                    <a:lstStyle/>
                    <a:p>
                      <a:r>
                        <a:rPr lang="en-US" dirty="0"/>
                        <a:t>      INFERENCE</a:t>
                      </a:r>
                    </a:p>
                  </a:txBody>
                  <a:tcPr/>
                </a:tc>
                <a:extLst>
                  <a:ext uri="{0D108BD9-81ED-4DB2-BD59-A6C34878D82A}">
                    <a16:rowId xmlns:a16="http://schemas.microsoft.com/office/drawing/2014/main" val="666006497"/>
                  </a:ext>
                </a:extLst>
              </a:tr>
              <a:tr h="3551756">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Deep Learning Approach for Early Detection of Alzheimer’s Disease</a:t>
                      </a:r>
                    </a:p>
                    <a:p>
                      <a:endParaRPr lang="en-US" dirty="0"/>
                    </a:p>
                  </a:txBody>
                  <a:tcPr/>
                </a:tc>
                <a:tc>
                  <a:txBody>
                    <a:bodyPr/>
                    <a:lstStyle/>
                    <a:p>
                      <a:r>
                        <a:rPr lang="en-US" dirty="0"/>
                        <a:t>Hadeer </a:t>
                      </a:r>
                      <a:r>
                        <a:rPr lang="en-US" dirty="0" err="1"/>
                        <a:t>A.Helaly</a:t>
                      </a:r>
                      <a:r>
                        <a:rPr lang="en-US" dirty="0"/>
                        <a:t>, Mahmoud Badawy, Amira Y. Haikal</a:t>
                      </a:r>
                    </a:p>
                  </a:txBody>
                  <a:tcPr/>
                </a:tc>
                <a:tc>
                  <a:txBody>
                    <a:bodyPr/>
                    <a:lstStyle/>
                    <a:p>
                      <a:r>
                        <a:rPr lang="en-US" i="1" dirty="0"/>
                        <a:t>Cognitive computation, Volume 14, 2021</a:t>
                      </a:r>
                    </a:p>
                  </a:txBody>
                  <a:tcPr/>
                </a:tc>
                <a:tc>
                  <a:txBody>
                    <a:bodyPr/>
                    <a:lstStyle/>
                    <a:p>
                      <a:pPr marL="285750" indent="-285750">
                        <a:buFont typeface="Arial" panose="020B0604020202020204" pitchFamily="34" charset="0"/>
                        <a:buChar char="•"/>
                      </a:pPr>
                      <a:r>
                        <a:rPr lang="en-US" dirty="0"/>
                        <a:t>In this paper the author has proposed </a:t>
                      </a:r>
                      <a:r>
                        <a:rPr lang="en-US" sz="2000" dirty="0"/>
                        <a:t>E2AD2C</a:t>
                      </a:r>
                      <a:r>
                        <a:rPr lang="en-US" dirty="0"/>
                        <a:t> framework for medical image classification and Alzheimer’s disease detection </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The VGG19 pre-trained model is fine-tuned and achieved an accuracy of 87% for multi-class AD stage classifications.</a:t>
                      </a:r>
                      <a:endParaRPr lang="en-US" dirty="0"/>
                    </a:p>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3238725085"/>
                  </a:ext>
                </a:extLst>
              </a:tr>
            </a:tbl>
          </a:graphicData>
        </a:graphic>
      </p:graphicFrame>
    </p:spTree>
    <p:extLst>
      <p:ext uri="{BB962C8B-B14F-4D97-AF65-F5344CB8AC3E}">
        <p14:creationId xmlns:p14="http://schemas.microsoft.com/office/powerpoint/2010/main" val="200461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B7A08-7EEE-9508-8BCC-FE29C43D6D64}"/>
              </a:ext>
            </a:extLst>
          </p:cNvPr>
          <p:cNvSpPr>
            <a:spLocks noGrp="1"/>
          </p:cNvSpPr>
          <p:nvPr>
            <p:ph type="title"/>
          </p:nvPr>
        </p:nvSpPr>
        <p:spPr/>
        <p:txBody>
          <a:bodyPr/>
          <a:lstStyle/>
          <a:p>
            <a:pPr algn="ctr"/>
            <a:r>
              <a:rPr lang="en-US" dirty="0"/>
              <a:t>Literature Review</a:t>
            </a:r>
            <a:endParaRPr lang="en-IN" dirty="0"/>
          </a:p>
        </p:txBody>
      </p:sp>
      <p:graphicFrame>
        <p:nvGraphicFramePr>
          <p:cNvPr id="7" name="Content Placeholder 6">
            <a:extLst>
              <a:ext uri="{FF2B5EF4-FFF2-40B4-BE49-F238E27FC236}">
                <a16:creationId xmlns:a16="http://schemas.microsoft.com/office/drawing/2014/main" id="{63ADC6DA-2321-80D2-B6E6-1382A4D66D21}"/>
              </a:ext>
            </a:extLst>
          </p:cNvPr>
          <p:cNvGraphicFramePr>
            <a:graphicFrameLocks noGrp="1"/>
          </p:cNvGraphicFramePr>
          <p:nvPr>
            <p:ph idx="1"/>
            <p:extLst>
              <p:ext uri="{D42A27DB-BD31-4B8C-83A1-F6EECF244321}">
                <p14:modId xmlns:p14="http://schemas.microsoft.com/office/powerpoint/2010/main" val="1535335643"/>
              </p:ext>
            </p:extLst>
          </p:nvPr>
        </p:nvGraphicFramePr>
        <p:xfrm>
          <a:off x="838200" y="1626596"/>
          <a:ext cx="10515600" cy="4738550"/>
        </p:xfrm>
        <a:graphic>
          <a:graphicData uri="http://schemas.openxmlformats.org/drawingml/2006/table">
            <a:tbl>
              <a:tblPr firstRow="1" bandRow="1">
                <a:tableStyleId>{5C22544A-7EE6-4342-B048-85BDC9FD1C3A}</a:tableStyleId>
              </a:tblPr>
              <a:tblGrid>
                <a:gridCol w="689658">
                  <a:extLst>
                    <a:ext uri="{9D8B030D-6E8A-4147-A177-3AD203B41FA5}">
                      <a16:colId xmlns:a16="http://schemas.microsoft.com/office/drawing/2014/main" val="3738337437"/>
                    </a:ext>
                  </a:extLst>
                </a:gridCol>
                <a:gridCol w="2534856">
                  <a:extLst>
                    <a:ext uri="{9D8B030D-6E8A-4147-A177-3AD203B41FA5}">
                      <a16:colId xmlns:a16="http://schemas.microsoft.com/office/drawing/2014/main" val="1613143239"/>
                    </a:ext>
                  </a:extLst>
                </a:gridCol>
                <a:gridCol w="1574157">
                  <a:extLst>
                    <a:ext uri="{9D8B030D-6E8A-4147-A177-3AD203B41FA5}">
                      <a16:colId xmlns:a16="http://schemas.microsoft.com/office/drawing/2014/main" val="2894236051"/>
                    </a:ext>
                  </a:extLst>
                </a:gridCol>
                <a:gridCol w="2476982">
                  <a:extLst>
                    <a:ext uri="{9D8B030D-6E8A-4147-A177-3AD203B41FA5}">
                      <a16:colId xmlns:a16="http://schemas.microsoft.com/office/drawing/2014/main" val="1928107939"/>
                    </a:ext>
                  </a:extLst>
                </a:gridCol>
                <a:gridCol w="3239947">
                  <a:extLst>
                    <a:ext uri="{9D8B030D-6E8A-4147-A177-3AD203B41FA5}">
                      <a16:colId xmlns:a16="http://schemas.microsoft.com/office/drawing/2014/main" val="3443540812"/>
                    </a:ext>
                  </a:extLst>
                </a:gridCol>
              </a:tblGrid>
              <a:tr h="504045">
                <a:tc>
                  <a:txBody>
                    <a:bodyPr/>
                    <a:lstStyle/>
                    <a:p>
                      <a:r>
                        <a:rPr lang="en-US" dirty="0"/>
                        <a:t>S.No</a:t>
                      </a:r>
                    </a:p>
                  </a:txBody>
                  <a:tcPr/>
                </a:tc>
                <a:tc>
                  <a:txBody>
                    <a:bodyPr/>
                    <a:lstStyle/>
                    <a:p>
                      <a:r>
                        <a:rPr lang="en-US" dirty="0"/>
                        <a:t>                      TITLE </a:t>
                      </a:r>
                    </a:p>
                  </a:txBody>
                  <a:tcPr/>
                </a:tc>
                <a:tc>
                  <a:txBody>
                    <a:bodyPr/>
                    <a:lstStyle/>
                    <a:p>
                      <a:r>
                        <a:rPr lang="en-US" dirty="0"/>
                        <a:t>     AUTHOR</a:t>
                      </a:r>
                    </a:p>
                  </a:txBody>
                  <a:tcPr/>
                </a:tc>
                <a:tc>
                  <a:txBody>
                    <a:bodyPr/>
                    <a:lstStyle/>
                    <a:p>
                      <a:pPr algn="ctr"/>
                      <a:r>
                        <a:rPr lang="en-US" dirty="0"/>
                        <a:t>JOURNAL</a:t>
                      </a:r>
                    </a:p>
                  </a:txBody>
                  <a:tcPr/>
                </a:tc>
                <a:tc>
                  <a:txBody>
                    <a:bodyPr/>
                    <a:lstStyle/>
                    <a:p>
                      <a:r>
                        <a:rPr lang="en-US" dirty="0"/>
                        <a:t>      INFERENCE</a:t>
                      </a:r>
                    </a:p>
                  </a:txBody>
                  <a:tcPr/>
                </a:tc>
                <a:extLst>
                  <a:ext uri="{0D108BD9-81ED-4DB2-BD59-A6C34878D82A}">
                    <a16:rowId xmlns:a16="http://schemas.microsoft.com/office/drawing/2014/main" val="666006497"/>
                  </a:ext>
                </a:extLst>
              </a:tr>
              <a:tr h="4234505">
                <a:tc>
                  <a:txBody>
                    <a:bodyPr/>
                    <a:lstStyle/>
                    <a:p>
                      <a:r>
                        <a:rPr lang="en-US" dirty="0"/>
                        <a:t>5.</a:t>
                      </a:r>
                    </a:p>
                  </a:txBody>
                  <a:tcPr/>
                </a:tc>
                <a:tc>
                  <a:txBody>
                    <a:bodyPr/>
                    <a:lstStyle/>
                    <a:p>
                      <a:pPr fontAlgn="base"/>
                      <a:r>
                        <a:rPr lang="en-US" sz="1800" b="1" i="0" kern="1200" dirty="0">
                          <a:solidFill>
                            <a:schemeClr val="dk1"/>
                          </a:solidFill>
                          <a:effectLst/>
                          <a:latin typeface="+mn-lt"/>
                          <a:ea typeface="+mn-ea"/>
                          <a:cs typeface="+mn-cs"/>
                        </a:rPr>
                        <a:t>Automated detection of Alzheimer's Disease using Deep Learning in MRI</a:t>
                      </a:r>
                    </a:p>
                    <a:p>
                      <a:endParaRPr lang="en-US" dirty="0"/>
                    </a:p>
                  </a:txBody>
                  <a:tcPr/>
                </a:tc>
                <a:tc>
                  <a:txBody>
                    <a:bodyPr/>
                    <a:lstStyle/>
                    <a:p>
                      <a:r>
                        <a:rPr lang="en-US" dirty="0"/>
                        <a:t>P C Muhammed Raees and Vinu Thomas</a:t>
                      </a:r>
                    </a:p>
                  </a:txBody>
                  <a:tcPr/>
                </a:tc>
                <a:tc>
                  <a:txBody>
                    <a:bodyPr/>
                    <a:lstStyle/>
                    <a:p>
                      <a:r>
                        <a:rPr lang="en-US" i="1" dirty="0"/>
                        <a:t>Journal of Physics</a:t>
                      </a:r>
                      <a:r>
                        <a:rPr lang="en-US" sz="1800" b="0" i="1" kern="1200" dirty="0">
                          <a:solidFill>
                            <a:schemeClr val="dk1"/>
                          </a:solidFill>
                          <a:effectLst/>
                          <a:latin typeface="+mn-lt"/>
                          <a:ea typeface="+mn-ea"/>
                          <a:cs typeface="+mn-cs"/>
                        </a:rPr>
                        <a:t> ,</a:t>
                      </a:r>
                      <a:r>
                        <a:rPr lang="en-US" sz="1800" b="0" i="1" u="none" kern="1200" dirty="0">
                          <a:solidFill>
                            <a:schemeClr val="dk1"/>
                          </a:solidFill>
                          <a:effectLst/>
                          <a:latin typeface="+mn-lt"/>
                          <a:ea typeface="+mn-ea"/>
                          <a:cs typeface="+mn-cs"/>
                        </a:rPr>
                        <a:t>First International Conference on Advances in Smart Sensor, Signal Processing and Communication Technology (ICASSCT 2021), 19-20, March 2021, Goa, India</a:t>
                      </a:r>
                      <a:endParaRPr lang="en-US" i="1" u="none" dirty="0"/>
                    </a:p>
                  </a:txBody>
                  <a:tcPr/>
                </a:tc>
                <a:tc>
                  <a:txBody>
                    <a:bodyPr/>
                    <a:lstStyle/>
                    <a:p>
                      <a:pPr marL="285750" indent="-285750">
                        <a:buFont typeface="Arial" panose="020B0604020202020204" pitchFamily="34" charset="0"/>
                        <a:buChar char="•"/>
                      </a:pPr>
                      <a:r>
                        <a:rPr lang="en-US" dirty="0"/>
                        <a:t>In this paper the authors have proposed a method to design an automated machine learning tool for the prediction of Alzheimer’s disease using a deep learning algorithm  and they examined the performance levels of SVM and DNN models</a:t>
                      </a:r>
                    </a:p>
                    <a:p>
                      <a:pPr marL="285750" indent="-285750">
                        <a:buFont typeface="Arial" panose="020B0604020202020204" pitchFamily="34" charset="0"/>
                        <a:buChar char="•"/>
                      </a:pPr>
                      <a:r>
                        <a:rPr lang="en-US" dirty="0"/>
                        <a:t>The model had an accuracy of 82% on AD prediction</a:t>
                      </a:r>
                    </a:p>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3238725085"/>
                  </a:ext>
                </a:extLst>
              </a:tr>
            </a:tbl>
          </a:graphicData>
        </a:graphic>
      </p:graphicFrame>
    </p:spTree>
    <p:extLst>
      <p:ext uri="{BB962C8B-B14F-4D97-AF65-F5344CB8AC3E}">
        <p14:creationId xmlns:p14="http://schemas.microsoft.com/office/powerpoint/2010/main" val="1319830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B7A08-7EEE-9508-8BCC-FE29C43D6D64}"/>
              </a:ext>
            </a:extLst>
          </p:cNvPr>
          <p:cNvSpPr>
            <a:spLocks noGrp="1"/>
          </p:cNvSpPr>
          <p:nvPr>
            <p:ph type="title"/>
          </p:nvPr>
        </p:nvSpPr>
        <p:spPr/>
        <p:txBody>
          <a:bodyPr/>
          <a:lstStyle/>
          <a:p>
            <a:pPr algn="ctr"/>
            <a:r>
              <a:rPr lang="en-US" dirty="0"/>
              <a:t>Literature Review</a:t>
            </a:r>
            <a:endParaRPr lang="en-IN" dirty="0"/>
          </a:p>
        </p:txBody>
      </p:sp>
      <p:graphicFrame>
        <p:nvGraphicFramePr>
          <p:cNvPr id="7" name="Content Placeholder 6">
            <a:extLst>
              <a:ext uri="{FF2B5EF4-FFF2-40B4-BE49-F238E27FC236}">
                <a16:creationId xmlns:a16="http://schemas.microsoft.com/office/drawing/2014/main" id="{63ADC6DA-2321-80D2-B6E6-1382A4D66D21}"/>
              </a:ext>
            </a:extLst>
          </p:cNvPr>
          <p:cNvGraphicFramePr>
            <a:graphicFrameLocks noGrp="1"/>
          </p:cNvGraphicFramePr>
          <p:nvPr>
            <p:ph idx="1"/>
            <p:extLst>
              <p:ext uri="{D42A27DB-BD31-4B8C-83A1-F6EECF244321}">
                <p14:modId xmlns:p14="http://schemas.microsoft.com/office/powerpoint/2010/main" val="2408437097"/>
              </p:ext>
            </p:extLst>
          </p:nvPr>
        </p:nvGraphicFramePr>
        <p:xfrm>
          <a:off x="674521" y="1399498"/>
          <a:ext cx="10617875" cy="4527119"/>
        </p:xfrm>
        <a:graphic>
          <a:graphicData uri="http://schemas.openxmlformats.org/drawingml/2006/table">
            <a:tbl>
              <a:tblPr firstRow="1" bandRow="1">
                <a:tableStyleId>{5C22544A-7EE6-4342-B048-85BDC9FD1C3A}</a:tableStyleId>
              </a:tblPr>
              <a:tblGrid>
                <a:gridCol w="786398">
                  <a:extLst>
                    <a:ext uri="{9D8B030D-6E8A-4147-A177-3AD203B41FA5}">
                      <a16:colId xmlns:a16="http://schemas.microsoft.com/office/drawing/2014/main" val="3738337437"/>
                    </a:ext>
                  </a:extLst>
                </a:gridCol>
                <a:gridCol w="2231405">
                  <a:extLst>
                    <a:ext uri="{9D8B030D-6E8A-4147-A177-3AD203B41FA5}">
                      <a16:colId xmlns:a16="http://schemas.microsoft.com/office/drawing/2014/main" val="1613143239"/>
                    </a:ext>
                  </a:extLst>
                </a:gridCol>
                <a:gridCol w="1817225">
                  <a:extLst>
                    <a:ext uri="{9D8B030D-6E8A-4147-A177-3AD203B41FA5}">
                      <a16:colId xmlns:a16="http://schemas.microsoft.com/office/drawing/2014/main" val="2894236051"/>
                    </a:ext>
                  </a:extLst>
                </a:gridCol>
                <a:gridCol w="2326512">
                  <a:extLst>
                    <a:ext uri="{9D8B030D-6E8A-4147-A177-3AD203B41FA5}">
                      <a16:colId xmlns:a16="http://schemas.microsoft.com/office/drawing/2014/main" val="1928107939"/>
                    </a:ext>
                  </a:extLst>
                </a:gridCol>
                <a:gridCol w="3456335">
                  <a:extLst>
                    <a:ext uri="{9D8B030D-6E8A-4147-A177-3AD203B41FA5}">
                      <a16:colId xmlns:a16="http://schemas.microsoft.com/office/drawing/2014/main" val="3443540812"/>
                    </a:ext>
                  </a:extLst>
                </a:gridCol>
              </a:tblGrid>
              <a:tr h="429302">
                <a:tc>
                  <a:txBody>
                    <a:bodyPr/>
                    <a:lstStyle/>
                    <a:p>
                      <a:r>
                        <a:rPr lang="en-US" dirty="0"/>
                        <a:t>S.No</a:t>
                      </a:r>
                    </a:p>
                  </a:txBody>
                  <a:tcPr/>
                </a:tc>
                <a:tc>
                  <a:txBody>
                    <a:bodyPr/>
                    <a:lstStyle/>
                    <a:p>
                      <a:r>
                        <a:rPr lang="en-US" dirty="0"/>
                        <a:t>             TITLE </a:t>
                      </a:r>
                    </a:p>
                  </a:txBody>
                  <a:tcPr/>
                </a:tc>
                <a:tc>
                  <a:txBody>
                    <a:bodyPr/>
                    <a:lstStyle/>
                    <a:p>
                      <a:r>
                        <a:rPr lang="en-US" dirty="0"/>
                        <a:t>     AUTHOR</a:t>
                      </a:r>
                    </a:p>
                  </a:txBody>
                  <a:tcPr/>
                </a:tc>
                <a:tc>
                  <a:txBody>
                    <a:bodyPr/>
                    <a:lstStyle/>
                    <a:p>
                      <a:pPr algn="ctr"/>
                      <a:r>
                        <a:rPr lang="en-US" dirty="0"/>
                        <a:t>JOURNAL</a:t>
                      </a:r>
                    </a:p>
                  </a:txBody>
                  <a:tcPr/>
                </a:tc>
                <a:tc>
                  <a:txBody>
                    <a:bodyPr/>
                    <a:lstStyle/>
                    <a:p>
                      <a:r>
                        <a:rPr lang="en-US" dirty="0"/>
                        <a:t>                    INFERENCE</a:t>
                      </a:r>
                    </a:p>
                  </a:txBody>
                  <a:tcPr/>
                </a:tc>
                <a:extLst>
                  <a:ext uri="{0D108BD9-81ED-4DB2-BD59-A6C34878D82A}">
                    <a16:rowId xmlns:a16="http://schemas.microsoft.com/office/drawing/2014/main" val="666006497"/>
                  </a:ext>
                </a:extLst>
              </a:tr>
              <a:tr h="4097817">
                <a:tc>
                  <a:txBody>
                    <a:bodyPr/>
                    <a:lstStyle/>
                    <a:p>
                      <a:r>
                        <a:rPr lang="en-US" dirty="0"/>
                        <a:t>6.</a:t>
                      </a:r>
                    </a:p>
                  </a:txBody>
                  <a:tcPr/>
                </a:tc>
                <a:tc>
                  <a:txBody>
                    <a:bodyPr/>
                    <a:lstStyle/>
                    <a:p>
                      <a:r>
                        <a:rPr lang="en-US" sz="1800" b="1" i="0" kern="1200" dirty="0">
                          <a:solidFill>
                            <a:schemeClr val="dk1"/>
                          </a:solidFill>
                          <a:effectLst/>
                          <a:latin typeface="+mn-lt"/>
                          <a:ea typeface="+mn-ea"/>
                          <a:cs typeface="+mn-cs"/>
                        </a:rPr>
                        <a:t>Alzheimer’s Disease Diagnosis using Deep </a:t>
                      </a:r>
                    </a:p>
                    <a:p>
                      <a:r>
                        <a:rPr lang="en-US" sz="1800" b="1" i="0" kern="1200" dirty="0">
                          <a:solidFill>
                            <a:schemeClr val="dk1"/>
                          </a:solidFill>
                          <a:effectLst/>
                          <a:latin typeface="+mn-lt"/>
                          <a:ea typeface="+mn-ea"/>
                          <a:cs typeface="+mn-cs"/>
                        </a:rPr>
                        <a:t>Learning Techniques</a:t>
                      </a:r>
                      <a:r>
                        <a:rPr lang="en-US" sz="1800" b="0" i="0" kern="1200" dirty="0">
                          <a:solidFill>
                            <a:schemeClr val="dk1"/>
                          </a:solidFill>
                          <a:effectLst/>
                          <a:latin typeface="+mn-lt"/>
                          <a:ea typeface="+mn-ea"/>
                          <a:cs typeface="+mn-cs"/>
                        </a:rPr>
                        <a:t> </a:t>
                      </a:r>
                    </a:p>
                    <a:p>
                      <a:endParaRPr lang="en-US" dirty="0"/>
                    </a:p>
                  </a:txBody>
                  <a:tcPr/>
                </a:tc>
                <a:tc>
                  <a:txBody>
                    <a:bodyPr/>
                    <a:lstStyle/>
                    <a:p>
                      <a:r>
                        <a:rPr lang="en-US" sz="1800" b="0" i="0" kern="1200" dirty="0">
                          <a:solidFill>
                            <a:schemeClr val="dk1"/>
                          </a:solidFill>
                          <a:effectLst/>
                          <a:latin typeface="+mn-lt"/>
                          <a:ea typeface="+mn-ea"/>
                          <a:cs typeface="+mn-cs"/>
                        </a:rPr>
                        <a:t>Ahmad Waleed Salehi,  Preety Baglat  , Gaurav Gupta</a:t>
                      </a:r>
                      <a:endParaRPr lang="en-US" dirty="0"/>
                    </a:p>
                  </a:txBody>
                  <a:tcPr/>
                </a:tc>
                <a:tc>
                  <a:txBody>
                    <a:bodyPr/>
                    <a:lstStyle/>
                    <a:p>
                      <a:r>
                        <a:rPr lang="en-US" sz="1800" b="0" i="1" kern="1200" dirty="0">
                          <a:solidFill>
                            <a:schemeClr val="dk1"/>
                          </a:solidFill>
                          <a:effectLst/>
                          <a:latin typeface="+mn-lt"/>
                          <a:ea typeface="+mn-ea"/>
                          <a:cs typeface="+mn-cs"/>
                        </a:rPr>
                        <a:t>International Journal of Engineering and Advanced Technology (IJEAT), February 2020</a:t>
                      </a:r>
                      <a:endParaRPr lang="en-US" i="1" dirty="0"/>
                    </a:p>
                  </a:txBody>
                  <a:tcPr/>
                </a:tc>
                <a:tc>
                  <a:txBody>
                    <a:bodyPr/>
                    <a:lstStyle/>
                    <a:p>
                      <a:pPr marL="285750" indent="-285750">
                        <a:buFont typeface="Arial" panose="020B0604020202020204" pitchFamily="34" charset="0"/>
                        <a:buChar char="•"/>
                      </a:pPr>
                      <a:r>
                        <a:rPr lang="en-US" dirty="0"/>
                        <a:t>In this paper the author has proposed a method to use  the machine learning SVM techniques for classifying the AD patient from MRI with the use of two different data sets (OASIS and ADNI). </a:t>
                      </a:r>
                    </a:p>
                    <a:p>
                      <a:pPr marL="285750" indent="-285750">
                        <a:buFont typeface="Arial" panose="020B0604020202020204" pitchFamily="34" charset="0"/>
                        <a:buChar char="•"/>
                      </a:pPr>
                      <a:r>
                        <a:rPr lang="en-US" dirty="0"/>
                        <a:t>The proposed method showed an accuracy of 86% for Alzheimer’s Disease prediction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3238725085"/>
                  </a:ext>
                </a:extLst>
              </a:tr>
            </a:tbl>
          </a:graphicData>
        </a:graphic>
      </p:graphicFrame>
    </p:spTree>
    <p:extLst>
      <p:ext uri="{BB962C8B-B14F-4D97-AF65-F5344CB8AC3E}">
        <p14:creationId xmlns:p14="http://schemas.microsoft.com/office/powerpoint/2010/main" val="156734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B7A08-7EEE-9508-8BCC-FE29C43D6D64}"/>
              </a:ext>
            </a:extLst>
          </p:cNvPr>
          <p:cNvSpPr>
            <a:spLocks noGrp="1"/>
          </p:cNvSpPr>
          <p:nvPr>
            <p:ph type="title"/>
          </p:nvPr>
        </p:nvSpPr>
        <p:spPr/>
        <p:txBody>
          <a:bodyPr/>
          <a:lstStyle/>
          <a:p>
            <a:pPr algn="ctr"/>
            <a:r>
              <a:rPr lang="en-US" dirty="0"/>
              <a:t>Literature Review</a:t>
            </a:r>
            <a:endParaRPr lang="en-IN" dirty="0"/>
          </a:p>
        </p:txBody>
      </p:sp>
      <p:graphicFrame>
        <p:nvGraphicFramePr>
          <p:cNvPr id="7" name="Content Placeholder 6">
            <a:extLst>
              <a:ext uri="{FF2B5EF4-FFF2-40B4-BE49-F238E27FC236}">
                <a16:creationId xmlns:a16="http://schemas.microsoft.com/office/drawing/2014/main" id="{63ADC6DA-2321-80D2-B6E6-1382A4D66D21}"/>
              </a:ext>
            </a:extLst>
          </p:cNvPr>
          <p:cNvGraphicFramePr>
            <a:graphicFrameLocks noGrp="1"/>
          </p:cNvGraphicFramePr>
          <p:nvPr>
            <p:ph idx="1"/>
            <p:extLst>
              <p:ext uri="{D42A27DB-BD31-4B8C-83A1-F6EECF244321}">
                <p14:modId xmlns:p14="http://schemas.microsoft.com/office/powerpoint/2010/main" val="209122559"/>
              </p:ext>
            </p:extLst>
          </p:nvPr>
        </p:nvGraphicFramePr>
        <p:xfrm>
          <a:off x="805372" y="1558948"/>
          <a:ext cx="10729403" cy="4787064"/>
        </p:xfrm>
        <a:graphic>
          <a:graphicData uri="http://schemas.openxmlformats.org/drawingml/2006/table">
            <a:tbl>
              <a:tblPr firstRow="1" bandRow="1">
                <a:tableStyleId>{5C22544A-7EE6-4342-B048-85BDC9FD1C3A}</a:tableStyleId>
              </a:tblPr>
              <a:tblGrid>
                <a:gridCol w="793344">
                  <a:extLst>
                    <a:ext uri="{9D8B030D-6E8A-4147-A177-3AD203B41FA5}">
                      <a16:colId xmlns:a16="http://schemas.microsoft.com/office/drawing/2014/main" val="3738337437"/>
                    </a:ext>
                  </a:extLst>
                </a:gridCol>
                <a:gridCol w="1943137">
                  <a:extLst>
                    <a:ext uri="{9D8B030D-6E8A-4147-A177-3AD203B41FA5}">
                      <a16:colId xmlns:a16="http://schemas.microsoft.com/office/drawing/2014/main" val="1613143239"/>
                    </a:ext>
                  </a:extLst>
                </a:gridCol>
                <a:gridCol w="2465408">
                  <a:extLst>
                    <a:ext uri="{9D8B030D-6E8A-4147-A177-3AD203B41FA5}">
                      <a16:colId xmlns:a16="http://schemas.microsoft.com/office/drawing/2014/main" val="2894236051"/>
                    </a:ext>
                  </a:extLst>
                </a:gridCol>
                <a:gridCol w="1551007">
                  <a:extLst>
                    <a:ext uri="{9D8B030D-6E8A-4147-A177-3AD203B41FA5}">
                      <a16:colId xmlns:a16="http://schemas.microsoft.com/office/drawing/2014/main" val="1928107939"/>
                    </a:ext>
                  </a:extLst>
                </a:gridCol>
                <a:gridCol w="3976507">
                  <a:extLst>
                    <a:ext uri="{9D8B030D-6E8A-4147-A177-3AD203B41FA5}">
                      <a16:colId xmlns:a16="http://schemas.microsoft.com/office/drawing/2014/main" val="3443540812"/>
                    </a:ext>
                  </a:extLst>
                </a:gridCol>
              </a:tblGrid>
              <a:tr h="447405">
                <a:tc>
                  <a:txBody>
                    <a:bodyPr/>
                    <a:lstStyle/>
                    <a:p>
                      <a:r>
                        <a:rPr lang="en-US" dirty="0"/>
                        <a:t>S.No</a:t>
                      </a:r>
                    </a:p>
                  </a:txBody>
                  <a:tcPr/>
                </a:tc>
                <a:tc>
                  <a:txBody>
                    <a:bodyPr/>
                    <a:lstStyle/>
                    <a:p>
                      <a:r>
                        <a:rPr lang="en-US" dirty="0"/>
                        <a:t>                      TITLE </a:t>
                      </a:r>
                    </a:p>
                  </a:txBody>
                  <a:tcPr/>
                </a:tc>
                <a:tc>
                  <a:txBody>
                    <a:bodyPr/>
                    <a:lstStyle/>
                    <a:p>
                      <a:r>
                        <a:rPr lang="en-US" dirty="0"/>
                        <a:t>     AUTHOR</a:t>
                      </a:r>
                    </a:p>
                  </a:txBody>
                  <a:tcPr/>
                </a:tc>
                <a:tc>
                  <a:txBody>
                    <a:bodyPr/>
                    <a:lstStyle/>
                    <a:p>
                      <a:pPr algn="ctr"/>
                      <a:r>
                        <a:rPr lang="en-US" dirty="0"/>
                        <a:t>JOURNAL</a:t>
                      </a:r>
                    </a:p>
                  </a:txBody>
                  <a:tcPr/>
                </a:tc>
                <a:tc>
                  <a:txBody>
                    <a:bodyPr/>
                    <a:lstStyle/>
                    <a:p>
                      <a:r>
                        <a:rPr lang="en-US" dirty="0"/>
                        <a:t>      INFERENCE</a:t>
                      </a:r>
                    </a:p>
                  </a:txBody>
                  <a:tcPr/>
                </a:tc>
                <a:extLst>
                  <a:ext uri="{0D108BD9-81ED-4DB2-BD59-A6C34878D82A}">
                    <a16:rowId xmlns:a16="http://schemas.microsoft.com/office/drawing/2014/main" val="666006497"/>
                  </a:ext>
                </a:extLst>
              </a:tr>
              <a:tr h="4339659">
                <a:tc>
                  <a:txBody>
                    <a:bodyPr/>
                    <a:lstStyle/>
                    <a:p>
                      <a:r>
                        <a:rPr lang="en-US" dirty="0"/>
                        <a:t>7.</a:t>
                      </a:r>
                    </a:p>
                  </a:txBody>
                  <a:tcPr/>
                </a:tc>
                <a:tc>
                  <a:txBody>
                    <a:bodyPr/>
                    <a:lstStyle/>
                    <a:p>
                      <a:r>
                        <a:rPr lang="en-US" sz="1800" b="1" i="0" kern="1200" dirty="0">
                          <a:solidFill>
                            <a:schemeClr val="dk1"/>
                          </a:solidFill>
                          <a:effectLst/>
                          <a:latin typeface="+mn-lt"/>
                          <a:ea typeface="+mn-ea"/>
                          <a:cs typeface="+mn-cs"/>
                        </a:rPr>
                        <a:t>Early Diagnosis of Alzheimer's Disease Using Deep Learning</a:t>
                      </a:r>
                    </a:p>
                    <a:p>
                      <a:endParaRPr lang="en-US" dirty="0"/>
                    </a:p>
                  </a:txBody>
                  <a:tcPr/>
                </a:tc>
                <a:tc>
                  <a:txBody>
                    <a:bodyPr/>
                    <a:lstStyle/>
                    <a:p>
                      <a:r>
                        <a:rPr lang="en-US" sz="1800" b="0" i="0" kern="1200" dirty="0">
                          <a:solidFill>
                            <a:schemeClr val="dk1"/>
                          </a:solidFill>
                          <a:effectLst/>
                          <a:latin typeface="+mn-lt"/>
                          <a:ea typeface="+mn-ea"/>
                          <a:cs typeface="+mn-cs"/>
                        </a:rPr>
                        <a:t> </a:t>
                      </a:r>
                      <a:r>
                        <a:rPr lang="en-US" sz="1800" b="0" i="0" u="none" strike="noStrike" kern="1200" dirty="0">
                          <a:solidFill>
                            <a:schemeClr val="dk1"/>
                          </a:solidFill>
                          <a:effectLst/>
                          <a:latin typeface="+mn-lt"/>
                          <a:ea typeface="+mn-ea"/>
                          <a:cs typeface="+mn-cs"/>
                        </a:rPr>
                        <a:t>Huanhuan Ji</a:t>
                      </a:r>
                      <a:r>
                        <a:rPr lang="en-US" sz="1800" b="0" i="0" u="none" kern="1200" dirty="0">
                          <a:solidFill>
                            <a:schemeClr val="dk1"/>
                          </a:solidFill>
                          <a:effectLst/>
                          <a:latin typeface="+mn-lt"/>
                          <a:ea typeface="+mn-ea"/>
                          <a:cs typeface="+mn-cs"/>
                        </a:rPr>
                        <a:t>, </a:t>
                      </a:r>
                      <a:r>
                        <a:rPr lang="en-US" sz="1800" b="0" i="0" u="none" strike="noStrike" kern="1200" dirty="0" err="1">
                          <a:solidFill>
                            <a:schemeClr val="dk1"/>
                          </a:solidFill>
                          <a:effectLst/>
                          <a:latin typeface="+mn-lt"/>
                          <a:ea typeface="+mn-ea"/>
                          <a:cs typeface="+mn-cs"/>
                        </a:rPr>
                        <a:t>Zhenbing</a:t>
                      </a:r>
                      <a:r>
                        <a:rPr lang="en-US" sz="1800" b="0" i="0" u="none" strike="noStrike" kern="1200" dirty="0">
                          <a:solidFill>
                            <a:schemeClr val="dk1"/>
                          </a:solidFill>
                          <a:effectLst/>
                          <a:latin typeface="+mn-lt"/>
                          <a:ea typeface="+mn-ea"/>
                          <a:cs typeface="+mn-cs"/>
                        </a:rPr>
                        <a:t> Liu</a:t>
                      </a:r>
                      <a:r>
                        <a:rPr lang="en-US" sz="1800" b="0" i="0" u="none" kern="1200" dirty="0">
                          <a:solidFill>
                            <a:schemeClr val="dk1"/>
                          </a:solidFill>
                          <a:effectLst/>
                          <a:latin typeface="+mn-lt"/>
                          <a:ea typeface="+mn-ea"/>
                          <a:cs typeface="+mn-cs"/>
                        </a:rPr>
                        <a:t>, </a:t>
                      </a:r>
                      <a:r>
                        <a:rPr lang="en-US" sz="1800" b="0" i="0" u="none" strike="noStrike" kern="1200" dirty="0">
                          <a:solidFill>
                            <a:schemeClr val="dk1"/>
                          </a:solidFill>
                          <a:effectLst/>
                          <a:latin typeface="+mn-lt"/>
                          <a:ea typeface="+mn-ea"/>
                          <a:cs typeface="+mn-cs"/>
                        </a:rPr>
                        <a:t>Wei Qi Yan</a:t>
                      </a:r>
                      <a:r>
                        <a:rPr lang="en-US" sz="1800" b="0" i="0" u="none" kern="1200" dirty="0">
                          <a:solidFill>
                            <a:schemeClr val="dk1"/>
                          </a:solidFill>
                          <a:effectLst/>
                          <a:latin typeface="+mn-lt"/>
                          <a:ea typeface="+mn-ea"/>
                          <a:cs typeface="+mn-cs"/>
                        </a:rPr>
                        <a:t>, </a:t>
                      </a:r>
                      <a:r>
                        <a:rPr lang="en-US" sz="1800" b="0" i="0" u="none" strike="noStrike" kern="1200" dirty="0">
                          <a:solidFill>
                            <a:schemeClr val="dk1"/>
                          </a:solidFill>
                          <a:effectLst/>
                          <a:latin typeface="+mn-lt"/>
                          <a:ea typeface="+mn-ea"/>
                          <a:cs typeface="+mn-cs"/>
                        </a:rPr>
                        <a:t>Reinhard </a:t>
                      </a:r>
                      <a:r>
                        <a:rPr lang="en-US" sz="1800" b="0" i="0" u="none" strike="noStrike" kern="1200" dirty="0" err="1">
                          <a:solidFill>
                            <a:schemeClr val="dk1"/>
                          </a:solidFill>
                          <a:effectLst/>
                          <a:latin typeface="+mn-lt"/>
                          <a:ea typeface="+mn-ea"/>
                          <a:cs typeface="+mn-cs"/>
                        </a:rPr>
                        <a:t>Klette</a:t>
                      </a:r>
                      <a:endParaRPr lang="en-US" u="none" dirty="0"/>
                    </a:p>
                  </a:txBody>
                  <a:tcPr/>
                </a:tc>
                <a:tc>
                  <a:txBody>
                    <a:bodyPr/>
                    <a:lstStyle/>
                    <a:p>
                      <a:r>
                        <a:rPr lang="en-US" sz="1800" b="0" i="1" u="none" kern="1200" dirty="0">
                          <a:solidFill>
                            <a:schemeClr val="dk1"/>
                          </a:solidFill>
                          <a:effectLst/>
                          <a:latin typeface="+mn-lt"/>
                          <a:ea typeface="+mn-ea"/>
                          <a:cs typeface="+mn-cs"/>
                        </a:rPr>
                        <a:t>ICCCV ‘19: Proceedings of the 2nd International Conference on Control and Computer Vision, 2019</a:t>
                      </a:r>
                    </a:p>
                    <a:p>
                      <a:br>
                        <a:rPr lang="en-US" dirty="0"/>
                      </a:br>
                      <a:endParaRPr lang="en-US" i="1" dirty="0"/>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In this paper the method proposed by the authors was evaluated based on a dataset from the Alzheimer's Disease Neuroimaging Initiative for the early diagnosis of this illness.</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 In particular, the accuracy rates of the classifications have reached up to 97.65% for AD/mild cognitive impairment and 88.37% for mild cognitive impairment/normal control.</a:t>
                      </a:r>
                      <a:endParaRPr lang="en-US" dirty="0"/>
                    </a:p>
                  </a:txBody>
                  <a:tcPr/>
                </a:tc>
                <a:extLst>
                  <a:ext uri="{0D108BD9-81ED-4DB2-BD59-A6C34878D82A}">
                    <a16:rowId xmlns:a16="http://schemas.microsoft.com/office/drawing/2014/main" val="3238725085"/>
                  </a:ext>
                </a:extLst>
              </a:tr>
            </a:tbl>
          </a:graphicData>
        </a:graphic>
      </p:graphicFrame>
    </p:spTree>
    <p:extLst>
      <p:ext uri="{BB962C8B-B14F-4D97-AF65-F5344CB8AC3E}">
        <p14:creationId xmlns:p14="http://schemas.microsoft.com/office/powerpoint/2010/main" val="655859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3DDB-5447-451C-B0C3-954E09495A20}"/>
              </a:ext>
            </a:extLst>
          </p:cNvPr>
          <p:cNvSpPr>
            <a:spLocks noGrp="1"/>
          </p:cNvSpPr>
          <p:nvPr>
            <p:ph type="title"/>
          </p:nvPr>
        </p:nvSpPr>
        <p:spPr/>
        <p:txBody>
          <a:bodyPr/>
          <a:lstStyle/>
          <a:p>
            <a:pPr algn="ctr"/>
            <a:r>
              <a:rPr lang="en-US" dirty="0"/>
              <a:t>Problem Statement</a:t>
            </a:r>
          </a:p>
        </p:txBody>
      </p:sp>
      <p:sp>
        <p:nvSpPr>
          <p:cNvPr id="3" name="Content Placeholder 2">
            <a:extLst>
              <a:ext uri="{FF2B5EF4-FFF2-40B4-BE49-F238E27FC236}">
                <a16:creationId xmlns:a16="http://schemas.microsoft.com/office/drawing/2014/main" id="{1AFC269B-43B8-3CC4-80CD-4061DA81044D}"/>
              </a:ext>
            </a:extLst>
          </p:cNvPr>
          <p:cNvSpPr>
            <a:spLocks noGrp="1"/>
          </p:cNvSpPr>
          <p:nvPr>
            <p:ph idx="1"/>
          </p:nvPr>
        </p:nvSpPr>
        <p:spPr/>
        <p:txBody>
          <a:bodyPr/>
          <a:lstStyle/>
          <a:p>
            <a:pPr algn="just"/>
            <a:r>
              <a:rPr lang="en-US" dirty="0"/>
              <a:t>Alzheimer's disease affects millions globally, and early detection is vital for effective intervention and management. </a:t>
            </a:r>
          </a:p>
          <a:p>
            <a:pPr algn="just"/>
            <a:r>
              <a:rPr lang="en-US" dirty="0"/>
              <a:t>It is very important to leverage techniques to improve the accuracy and efficiency of Alzheimer's detection, surpassing traditional diagnostic methods. </a:t>
            </a:r>
          </a:p>
          <a:p>
            <a:pPr algn="just"/>
            <a:r>
              <a:rPr lang="en-US" dirty="0"/>
              <a:t>By enhancing early diagnosis, the approach must help to curb the growing prevalence of the disease.</a:t>
            </a:r>
          </a:p>
        </p:txBody>
      </p:sp>
    </p:spTree>
    <p:extLst>
      <p:ext uri="{BB962C8B-B14F-4D97-AF65-F5344CB8AC3E}">
        <p14:creationId xmlns:p14="http://schemas.microsoft.com/office/powerpoint/2010/main" val="2074774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8156D-C3C9-B84A-36A6-9275B90BE4BF}"/>
              </a:ext>
            </a:extLst>
          </p:cNvPr>
          <p:cNvSpPr>
            <a:spLocks noGrp="1"/>
          </p:cNvSpPr>
          <p:nvPr>
            <p:ph type="title"/>
          </p:nvPr>
        </p:nvSpPr>
        <p:spPr/>
        <p:txBody>
          <a:bodyPr/>
          <a:lstStyle/>
          <a:p>
            <a:pPr algn="ctr"/>
            <a:r>
              <a:rPr lang="en-US" dirty="0"/>
              <a:t>Objectives</a:t>
            </a:r>
          </a:p>
        </p:txBody>
      </p:sp>
      <p:sp>
        <p:nvSpPr>
          <p:cNvPr id="3" name="Content Placeholder 2">
            <a:extLst>
              <a:ext uri="{FF2B5EF4-FFF2-40B4-BE49-F238E27FC236}">
                <a16:creationId xmlns:a16="http://schemas.microsoft.com/office/drawing/2014/main" id="{8C860F4C-52ED-5A87-1536-BD0CD2C62962}"/>
              </a:ext>
            </a:extLst>
          </p:cNvPr>
          <p:cNvSpPr>
            <a:spLocks noGrp="1"/>
          </p:cNvSpPr>
          <p:nvPr>
            <p:ph idx="1"/>
          </p:nvPr>
        </p:nvSpPr>
        <p:spPr>
          <a:xfrm>
            <a:off x="838200" y="1825625"/>
            <a:ext cx="10515600" cy="4351338"/>
          </a:xfrm>
        </p:spPr>
        <p:txBody>
          <a:bodyPr/>
          <a:lstStyle/>
          <a:p>
            <a:pPr algn="just"/>
            <a:r>
              <a:rPr lang="en-US" dirty="0"/>
              <a:t>The aim of this project is to detect Alzheimer’s disease in its early stage, focusing on identifying subtle indicators and patterns that precede noticeable symptoms, thereby enabling timely intervention and treatment.</a:t>
            </a:r>
          </a:p>
          <a:p>
            <a:pPr algn="just"/>
            <a:r>
              <a:rPr lang="en-US" dirty="0"/>
              <a:t>The objective is :</a:t>
            </a:r>
          </a:p>
          <a:p>
            <a:pPr marL="514350" indent="-514350" algn="just">
              <a:buFont typeface="+mj-lt"/>
              <a:buAutoNum type="arabicPeriod"/>
            </a:pPr>
            <a:r>
              <a:rPr lang="en-US" dirty="0"/>
              <a:t>To develop and evaluate machine learning and deep learning models that can accurately identify early signs of Alzheimer’s disease from neuroimaging and other relevant datasets   </a:t>
            </a:r>
          </a:p>
          <a:p>
            <a:pPr marL="514350" indent="-514350" algn="just">
              <a:buFont typeface="+mj-lt"/>
              <a:buAutoNum type="arabicPeriod"/>
            </a:pPr>
            <a:r>
              <a:rPr lang="en-US" dirty="0"/>
              <a:t>To identify suitable model that could provide high accuracy thereby detects Alzheimer’s disease in early stages.</a:t>
            </a:r>
          </a:p>
          <a:p>
            <a:pPr algn="just"/>
            <a:endParaRPr lang="en-IN" dirty="0"/>
          </a:p>
          <a:p>
            <a:pPr algn="just"/>
            <a:endParaRPr lang="en-US" dirty="0"/>
          </a:p>
        </p:txBody>
      </p:sp>
    </p:spTree>
    <p:extLst>
      <p:ext uri="{BB962C8B-B14F-4D97-AF65-F5344CB8AC3E}">
        <p14:creationId xmlns:p14="http://schemas.microsoft.com/office/powerpoint/2010/main" val="3358456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72B73-2EE6-4B25-A28E-64E9C904D29E}"/>
              </a:ext>
            </a:extLst>
          </p:cNvPr>
          <p:cNvSpPr>
            <a:spLocks noGrp="1"/>
          </p:cNvSpPr>
          <p:nvPr>
            <p:ph type="title"/>
          </p:nvPr>
        </p:nvSpPr>
        <p:spPr/>
        <p:txBody>
          <a:bodyPr/>
          <a:lstStyle/>
          <a:p>
            <a:r>
              <a:rPr lang="en-US" dirty="0"/>
              <a:t>                                  Design</a:t>
            </a:r>
            <a:endParaRPr lang="en-IN" dirty="0"/>
          </a:p>
        </p:txBody>
      </p:sp>
      <p:sp>
        <p:nvSpPr>
          <p:cNvPr id="3" name="Content Placeholder 2">
            <a:extLst>
              <a:ext uri="{FF2B5EF4-FFF2-40B4-BE49-F238E27FC236}">
                <a16:creationId xmlns:a16="http://schemas.microsoft.com/office/drawing/2014/main" id="{EFB0FBF5-F397-4549-BE93-2799340502B8}"/>
              </a:ext>
            </a:extLst>
          </p:cNvPr>
          <p:cNvSpPr>
            <a:spLocks noGrp="1"/>
          </p:cNvSpPr>
          <p:nvPr>
            <p:ph idx="1"/>
          </p:nvPr>
        </p:nvSpPr>
        <p:spPr>
          <a:xfrm>
            <a:off x="838200" y="1825624"/>
            <a:ext cx="10515600" cy="5159375"/>
          </a:xfrm>
        </p:spPr>
        <p:txBody>
          <a:bodyPr>
            <a:noAutofit/>
          </a:bodyPr>
          <a:lstStyle/>
          <a:p>
            <a:pPr algn="just"/>
            <a:r>
              <a:rPr lang="en-US" b="1" dirty="0"/>
              <a:t>Data Preprocessing:</a:t>
            </a:r>
            <a:r>
              <a:rPr lang="en-US" dirty="0"/>
              <a:t> MRI images from different stages of Alzheimer's (Very Mild, Mild, Moderate) and Non-Demented cases are loaded and visualized to observe category differences. All images are resized to a uniform size (e.g., 128x128 pixels) to standardize inputs and reduce computational load. The resized 2D images are then flattened into 1D arrays for model training.</a:t>
            </a:r>
          </a:p>
          <a:p>
            <a:pPr algn="just"/>
            <a:r>
              <a:rPr lang="en-US" b="1" dirty="0"/>
              <a:t>Feature Extraction:</a:t>
            </a:r>
            <a:r>
              <a:rPr lang="en-US" dirty="0"/>
              <a:t> Principal Component Analysis (PCA) is applied to the flattened image data to reduce dimensionality. This step retains the most significant features, improving model efficiency and focusing on the most informative aspects of the images.</a:t>
            </a:r>
          </a:p>
          <a:p>
            <a:pPr marL="0" indent="0" algn="just">
              <a:buNone/>
            </a:pPr>
            <a:endParaRPr lang="en-US" sz="2700" dirty="0"/>
          </a:p>
        </p:txBody>
      </p:sp>
    </p:spTree>
    <p:extLst>
      <p:ext uri="{BB962C8B-B14F-4D97-AF65-F5344CB8AC3E}">
        <p14:creationId xmlns:p14="http://schemas.microsoft.com/office/powerpoint/2010/main" val="2207404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5E1ABD-20C6-443B-9CEE-5745C6AEFB8F}"/>
              </a:ext>
            </a:extLst>
          </p:cNvPr>
          <p:cNvSpPr>
            <a:spLocks noGrp="1"/>
          </p:cNvSpPr>
          <p:nvPr>
            <p:ph idx="1"/>
          </p:nvPr>
        </p:nvSpPr>
        <p:spPr>
          <a:xfrm>
            <a:off x="546100" y="1545545"/>
            <a:ext cx="10706100" cy="5110163"/>
          </a:xfrm>
        </p:spPr>
        <p:txBody>
          <a:bodyPr/>
          <a:lstStyle/>
          <a:p>
            <a:pPr algn="just"/>
            <a:r>
              <a:rPr lang="en-US" b="1" dirty="0"/>
              <a:t>Model Training:</a:t>
            </a:r>
            <a:r>
              <a:rPr lang="en-US" dirty="0"/>
              <a:t> We trained out model using Support Vector Machine (SVM) algorithm using different kernels: a linear approximation with SGDClassifier, a polynomial kernel, and a Radial Basis Function (RBF) kernel. Each time the model is trained to classify images into Alzheimer's or Non-Demented/No Alzheimer’s categories.</a:t>
            </a:r>
          </a:p>
          <a:p>
            <a:pPr algn="just"/>
            <a:r>
              <a:rPr lang="en-US" b="1" dirty="0"/>
              <a:t>Model Evaluation:</a:t>
            </a:r>
            <a:r>
              <a:rPr lang="en-US" dirty="0"/>
              <a:t> The models are evaluated using metrics like Accuracy, Precision, Recall, F1 Score, and Confusion Matrix. Confusion matrices help visualize classification performance, while the Receiver Operating Characteristic (ROC) curve and Area Under the Curve (AUC) assess the model's overall effectiveness.</a:t>
            </a:r>
          </a:p>
          <a:p>
            <a:pPr algn="just"/>
            <a:endParaRPr lang="en-IN" dirty="0"/>
          </a:p>
        </p:txBody>
      </p:sp>
      <p:sp>
        <p:nvSpPr>
          <p:cNvPr id="5" name="Title 1">
            <a:extLst>
              <a:ext uri="{FF2B5EF4-FFF2-40B4-BE49-F238E27FC236}">
                <a16:creationId xmlns:a16="http://schemas.microsoft.com/office/drawing/2014/main" id="{A4476AC7-DD54-4F9D-88B8-0B22865CE68C}"/>
              </a:ext>
            </a:extLst>
          </p:cNvPr>
          <p:cNvSpPr>
            <a:spLocks noGrp="1"/>
          </p:cNvSpPr>
          <p:nvPr>
            <p:ph type="title"/>
          </p:nvPr>
        </p:nvSpPr>
        <p:spPr>
          <a:xfrm>
            <a:off x="641350" y="157841"/>
            <a:ext cx="10515600" cy="1325563"/>
          </a:xfrm>
        </p:spPr>
        <p:txBody>
          <a:bodyPr/>
          <a:lstStyle/>
          <a:p>
            <a:r>
              <a:rPr lang="en-US" dirty="0"/>
              <a:t>                                  Design</a:t>
            </a:r>
            <a:endParaRPr lang="en-IN" dirty="0"/>
          </a:p>
        </p:txBody>
      </p:sp>
    </p:spTree>
    <p:extLst>
      <p:ext uri="{BB962C8B-B14F-4D97-AF65-F5344CB8AC3E}">
        <p14:creationId xmlns:p14="http://schemas.microsoft.com/office/powerpoint/2010/main" val="2809213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D3DD-4894-6667-5D79-CCEC5F476D2A}"/>
              </a:ext>
            </a:extLst>
          </p:cNvPr>
          <p:cNvSpPr>
            <a:spLocks noGrp="1"/>
          </p:cNvSpPr>
          <p:nvPr>
            <p:ph type="title"/>
          </p:nvPr>
        </p:nvSpPr>
        <p:spPr>
          <a:xfrm>
            <a:off x="625136" y="-150774"/>
            <a:ext cx="10515600" cy="1325563"/>
          </a:xfrm>
        </p:spPr>
        <p:txBody>
          <a:bodyPr/>
          <a:lstStyle/>
          <a:p>
            <a:pPr algn="ctr"/>
            <a:r>
              <a:rPr lang="en-US" dirty="0"/>
              <a:t>Design</a:t>
            </a:r>
          </a:p>
        </p:txBody>
      </p:sp>
      <p:sp>
        <p:nvSpPr>
          <p:cNvPr id="3" name="Rectangle 2">
            <a:extLst>
              <a:ext uri="{FF2B5EF4-FFF2-40B4-BE49-F238E27FC236}">
                <a16:creationId xmlns:a16="http://schemas.microsoft.com/office/drawing/2014/main" id="{06F97EFC-2BD7-898F-3189-D403695810FE}"/>
              </a:ext>
            </a:extLst>
          </p:cNvPr>
          <p:cNvSpPr/>
          <p:nvPr/>
        </p:nvSpPr>
        <p:spPr>
          <a:xfrm>
            <a:off x="5280733" y="868058"/>
            <a:ext cx="1478874" cy="768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Data</a:t>
            </a:r>
          </a:p>
        </p:txBody>
      </p:sp>
      <p:sp>
        <p:nvSpPr>
          <p:cNvPr id="4" name="Rectangle 3">
            <a:extLst>
              <a:ext uri="{FF2B5EF4-FFF2-40B4-BE49-F238E27FC236}">
                <a16:creationId xmlns:a16="http://schemas.microsoft.com/office/drawing/2014/main" id="{DFA29E99-F452-470D-F922-91A32656C0CD}"/>
              </a:ext>
            </a:extLst>
          </p:cNvPr>
          <p:cNvSpPr/>
          <p:nvPr/>
        </p:nvSpPr>
        <p:spPr>
          <a:xfrm>
            <a:off x="5285910" y="1959494"/>
            <a:ext cx="1478874" cy="768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Preprocessing</a:t>
            </a:r>
          </a:p>
        </p:txBody>
      </p:sp>
      <p:sp>
        <p:nvSpPr>
          <p:cNvPr id="5" name="Rectangle 4">
            <a:extLst>
              <a:ext uri="{FF2B5EF4-FFF2-40B4-BE49-F238E27FC236}">
                <a16:creationId xmlns:a16="http://schemas.microsoft.com/office/drawing/2014/main" id="{42CCDC7D-E223-799C-E61A-4190013EE605}"/>
              </a:ext>
            </a:extLst>
          </p:cNvPr>
          <p:cNvSpPr/>
          <p:nvPr/>
        </p:nvSpPr>
        <p:spPr>
          <a:xfrm>
            <a:off x="5280733" y="3050930"/>
            <a:ext cx="1478874" cy="768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Feature Extraction</a:t>
            </a:r>
          </a:p>
        </p:txBody>
      </p:sp>
      <p:sp>
        <p:nvSpPr>
          <p:cNvPr id="7" name="Rectangle 6">
            <a:extLst>
              <a:ext uri="{FF2B5EF4-FFF2-40B4-BE49-F238E27FC236}">
                <a16:creationId xmlns:a16="http://schemas.microsoft.com/office/drawing/2014/main" id="{751EF3E1-2721-5C71-19E2-AF664B884EF9}"/>
              </a:ext>
            </a:extLst>
          </p:cNvPr>
          <p:cNvSpPr/>
          <p:nvPr/>
        </p:nvSpPr>
        <p:spPr>
          <a:xfrm>
            <a:off x="7571171" y="6089573"/>
            <a:ext cx="1473696" cy="768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Evaluation</a:t>
            </a:r>
          </a:p>
        </p:txBody>
      </p:sp>
      <p:sp>
        <p:nvSpPr>
          <p:cNvPr id="8" name="Rectangle 7">
            <a:extLst>
              <a:ext uri="{FF2B5EF4-FFF2-40B4-BE49-F238E27FC236}">
                <a16:creationId xmlns:a16="http://schemas.microsoft.com/office/drawing/2014/main" id="{08F7487A-84D6-319F-6B22-1D7268D15E82}"/>
              </a:ext>
            </a:extLst>
          </p:cNvPr>
          <p:cNvSpPr/>
          <p:nvPr/>
        </p:nvSpPr>
        <p:spPr>
          <a:xfrm>
            <a:off x="2743197" y="4142366"/>
            <a:ext cx="1473695" cy="768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Machine Learning Algorithms</a:t>
            </a:r>
          </a:p>
        </p:txBody>
      </p:sp>
      <p:sp>
        <p:nvSpPr>
          <p:cNvPr id="9" name="Rectangle 8">
            <a:extLst>
              <a:ext uri="{FF2B5EF4-FFF2-40B4-BE49-F238E27FC236}">
                <a16:creationId xmlns:a16="http://schemas.microsoft.com/office/drawing/2014/main" id="{6425D9B1-4380-8893-C207-2CFDAE1130E1}"/>
              </a:ext>
            </a:extLst>
          </p:cNvPr>
          <p:cNvSpPr/>
          <p:nvPr/>
        </p:nvSpPr>
        <p:spPr>
          <a:xfrm>
            <a:off x="7571171" y="4142365"/>
            <a:ext cx="1473696" cy="768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Deep learning techniques</a:t>
            </a:r>
          </a:p>
        </p:txBody>
      </p:sp>
      <p:sp>
        <p:nvSpPr>
          <p:cNvPr id="10" name="Rectangle 9">
            <a:extLst>
              <a:ext uri="{FF2B5EF4-FFF2-40B4-BE49-F238E27FC236}">
                <a16:creationId xmlns:a16="http://schemas.microsoft.com/office/drawing/2014/main" id="{F16432B1-E213-8E84-C1FE-E1634CB53729}"/>
              </a:ext>
            </a:extLst>
          </p:cNvPr>
          <p:cNvSpPr/>
          <p:nvPr/>
        </p:nvSpPr>
        <p:spPr>
          <a:xfrm>
            <a:off x="5285909" y="5233802"/>
            <a:ext cx="1473696" cy="768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Testing</a:t>
            </a:r>
          </a:p>
        </p:txBody>
      </p:sp>
      <p:sp>
        <p:nvSpPr>
          <p:cNvPr id="11" name="Rectangle 10">
            <a:extLst>
              <a:ext uri="{FF2B5EF4-FFF2-40B4-BE49-F238E27FC236}">
                <a16:creationId xmlns:a16="http://schemas.microsoft.com/office/drawing/2014/main" id="{57EBB869-89FA-D297-EAA8-43B937AD945C}"/>
              </a:ext>
            </a:extLst>
          </p:cNvPr>
          <p:cNvSpPr/>
          <p:nvPr/>
        </p:nvSpPr>
        <p:spPr>
          <a:xfrm>
            <a:off x="5285911" y="4142366"/>
            <a:ext cx="1473696" cy="768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Training</a:t>
            </a:r>
          </a:p>
        </p:txBody>
      </p:sp>
      <p:cxnSp>
        <p:nvCxnSpPr>
          <p:cNvPr id="13" name="Straight Arrow Connector 12">
            <a:extLst>
              <a:ext uri="{FF2B5EF4-FFF2-40B4-BE49-F238E27FC236}">
                <a16:creationId xmlns:a16="http://schemas.microsoft.com/office/drawing/2014/main" id="{2CCAE4CD-3665-2494-A7C9-F511B115474F}"/>
              </a:ext>
            </a:extLst>
          </p:cNvPr>
          <p:cNvCxnSpPr>
            <a:stCxn id="3" idx="2"/>
            <a:endCxn id="4" idx="0"/>
          </p:cNvCxnSpPr>
          <p:nvPr/>
        </p:nvCxnSpPr>
        <p:spPr>
          <a:xfrm>
            <a:off x="6020170" y="1636485"/>
            <a:ext cx="5177" cy="323009"/>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15" name="Straight Arrow Connector 14">
            <a:extLst>
              <a:ext uri="{FF2B5EF4-FFF2-40B4-BE49-F238E27FC236}">
                <a16:creationId xmlns:a16="http://schemas.microsoft.com/office/drawing/2014/main" id="{8DC00DE3-76E9-D08D-F169-BD8E070B661B}"/>
              </a:ext>
            </a:extLst>
          </p:cNvPr>
          <p:cNvCxnSpPr>
            <a:stCxn id="4" idx="2"/>
            <a:endCxn id="5" idx="0"/>
          </p:cNvCxnSpPr>
          <p:nvPr/>
        </p:nvCxnSpPr>
        <p:spPr>
          <a:xfrm flipH="1">
            <a:off x="6020170" y="2727921"/>
            <a:ext cx="5177" cy="323009"/>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17" name="Straight Arrow Connector 16">
            <a:extLst>
              <a:ext uri="{FF2B5EF4-FFF2-40B4-BE49-F238E27FC236}">
                <a16:creationId xmlns:a16="http://schemas.microsoft.com/office/drawing/2014/main" id="{28CB3E1B-846B-6FD1-8002-3F3AA87867ED}"/>
              </a:ext>
            </a:extLst>
          </p:cNvPr>
          <p:cNvCxnSpPr>
            <a:stCxn id="5" idx="2"/>
            <a:endCxn id="11" idx="0"/>
          </p:cNvCxnSpPr>
          <p:nvPr/>
        </p:nvCxnSpPr>
        <p:spPr>
          <a:xfrm>
            <a:off x="6020170" y="3819357"/>
            <a:ext cx="2589" cy="323009"/>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21" name="Straight Arrow Connector 20">
            <a:extLst>
              <a:ext uri="{FF2B5EF4-FFF2-40B4-BE49-F238E27FC236}">
                <a16:creationId xmlns:a16="http://schemas.microsoft.com/office/drawing/2014/main" id="{7DC5F4B0-C256-DA39-7453-0E049F9ECA3E}"/>
              </a:ext>
            </a:extLst>
          </p:cNvPr>
          <p:cNvCxnSpPr>
            <a:cxnSpLocks/>
            <a:stCxn id="11" idx="1"/>
            <a:endCxn id="8" idx="3"/>
          </p:cNvCxnSpPr>
          <p:nvPr/>
        </p:nvCxnSpPr>
        <p:spPr>
          <a:xfrm flipH="1">
            <a:off x="4216892" y="4526580"/>
            <a:ext cx="1069019" cy="0"/>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23" name="Straight Arrow Connector 22">
            <a:extLst>
              <a:ext uri="{FF2B5EF4-FFF2-40B4-BE49-F238E27FC236}">
                <a16:creationId xmlns:a16="http://schemas.microsoft.com/office/drawing/2014/main" id="{5AA88205-6776-2D70-2DCD-EAC604D230FB}"/>
              </a:ext>
            </a:extLst>
          </p:cNvPr>
          <p:cNvCxnSpPr>
            <a:stCxn id="11" idx="3"/>
            <a:endCxn id="9" idx="1"/>
          </p:cNvCxnSpPr>
          <p:nvPr/>
        </p:nvCxnSpPr>
        <p:spPr>
          <a:xfrm flipV="1">
            <a:off x="6759607" y="4526579"/>
            <a:ext cx="811564" cy="1"/>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41" name="Connector: Elbow 40">
            <a:extLst>
              <a:ext uri="{FF2B5EF4-FFF2-40B4-BE49-F238E27FC236}">
                <a16:creationId xmlns:a16="http://schemas.microsoft.com/office/drawing/2014/main" id="{1B006803-6416-AAD3-1D28-DD9512118AB2}"/>
              </a:ext>
            </a:extLst>
          </p:cNvPr>
          <p:cNvCxnSpPr>
            <a:cxnSpLocks/>
            <a:stCxn id="8" idx="2"/>
            <a:endCxn id="10" idx="1"/>
          </p:cNvCxnSpPr>
          <p:nvPr/>
        </p:nvCxnSpPr>
        <p:spPr>
          <a:xfrm rot="16200000" flipH="1">
            <a:off x="4029366" y="4361472"/>
            <a:ext cx="707223" cy="1805864"/>
          </a:xfrm>
          <a:prstGeom prst="bentConnector2">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44" name="Connector: Elbow 43">
            <a:extLst>
              <a:ext uri="{FF2B5EF4-FFF2-40B4-BE49-F238E27FC236}">
                <a16:creationId xmlns:a16="http://schemas.microsoft.com/office/drawing/2014/main" id="{972A207A-70BB-A545-8654-BE61A2DF55FF}"/>
              </a:ext>
            </a:extLst>
          </p:cNvPr>
          <p:cNvCxnSpPr>
            <a:stCxn id="9" idx="2"/>
            <a:endCxn id="10" idx="3"/>
          </p:cNvCxnSpPr>
          <p:nvPr/>
        </p:nvCxnSpPr>
        <p:spPr>
          <a:xfrm rot="5400000">
            <a:off x="7180200" y="4490197"/>
            <a:ext cx="707224" cy="1548414"/>
          </a:xfrm>
          <a:prstGeom prst="bentConnector2">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46" name="Connector: Elbow 45">
            <a:extLst>
              <a:ext uri="{FF2B5EF4-FFF2-40B4-BE49-F238E27FC236}">
                <a16:creationId xmlns:a16="http://schemas.microsoft.com/office/drawing/2014/main" id="{DC401033-AE14-F9B4-E20E-E6730A7CDCBC}"/>
              </a:ext>
            </a:extLst>
          </p:cNvPr>
          <p:cNvCxnSpPr>
            <a:stCxn id="10" idx="2"/>
            <a:endCxn id="7" idx="1"/>
          </p:cNvCxnSpPr>
          <p:nvPr/>
        </p:nvCxnSpPr>
        <p:spPr>
          <a:xfrm rot="16200000" flipH="1">
            <a:off x="6561185" y="5463801"/>
            <a:ext cx="471558" cy="1548414"/>
          </a:xfrm>
          <a:prstGeom prst="bentConnector2">
            <a:avLst/>
          </a:prstGeom>
          <a:ln w="28575">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345474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D3DD-4894-6667-5D79-CCEC5F476D2A}"/>
              </a:ext>
            </a:extLst>
          </p:cNvPr>
          <p:cNvSpPr>
            <a:spLocks noGrp="1"/>
          </p:cNvSpPr>
          <p:nvPr>
            <p:ph type="title"/>
          </p:nvPr>
        </p:nvSpPr>
        <p:spPr>
          <a:xfrm>
            <a:off x="625136" y="-150774"/>
            <a:ext cx="10515600" cy="1325563"/>
          </a:xfrm>
        </p:spPr>
        <p:txBody>
          <a:bodyPr/>
          <a:lstStyle/>
          <a:p>
            <a:pPr algn="ctr"/>
            <a:r>
              <a:rPr lang="en-US" dirty="0"/>
              <a:t>Design</a:t>
            </a:r>
          </a:p>
        </p:txBody>
      </p:sp>
      <p:pic>
        <p:nvPicPr>
          <p:cNvPr id="20" name="Picture 19">
            <a:extLst>
              <a:ext uri="{FF2B5EF4-FFF2-40B4-BE49-F238E27FC236}">
                <a16:creationId xmlns:a16="http://schemas.microsoft.com/office/drawing/2014/main" id="{DC9E7FC9-0D0D-49EB-95F0-B1865704E264}"/>
              </a:ext>
            </a:extLst>
          </p:cNvPr>
          <p:cNvPicPr>
            <a:picLocks noChangeAspect="1"/>
          </p:cNvPicPr>
          <p:nvPr/>
        </p:nvPicPr>
        <p:blipFill>
          <a:blip r:embed="rId2"/>
          <a:stretch>
            <a:fillRect/>
          </a:stretch>
        </p:blipFill>
        <p:spPr>
          <a:xfrm>
            <a:off x="3938286" y="892461"/>
            <a:ext cx="4315427" cy="5801535"/>
          </a:xfrm>
          <a:prstGeom prst="rect">
            <a:avLst/>
          </a:prstGeom>
        </p:spPr>
      </p:pic>
    </p:spTree>
    <p:extLst>
      <p:ext uri="{BB962C8B-B14F-4D97-AF65-F5344CB8AC3E}">
        <p14:creationId xmlns:p14="http://schemas.microsoft.com/office/powerpoint/2010/main" val="52632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C48BD-2FE2-4D73-A262-FFF69D7A0766}"/>
              </a:ext>
            </a:extLst>
          </p:cNvPr>
          <p:cNvSpPr>
            <a:spLocks noGrp="1"/>
          </p:cNvSpPr>
          <p:nvPr>
            <p:ph idx="1"/>
          </p:nvPr>
        </p:nvSpPr>
        <p:spPr>
          <a:xfrm>
            <a:off x="838200" y="1253331"/>
            <a:ext cx="10515600" cy="4351338"/>
          </a:xfrm>
        </p:spPr>
        <p:txBody>
          <a:bodyPr>
            <a:normAutofit/>
          </a:bodyPr>
          <a:lstStyle/>
          <a:p>
            <a:pPr algn="just"/>
            <a:r>
              <a:rPr lang="en-IN" sz="2600" b="1" dirty="0"/>
              <a:t>VGG16 CNN: </a:t>
            </a:r>
            <a:r>
              <a:rPr lang="en-US" sz="2600" dirty="0"/>
              <a:t>The VGG16 model performed poorly in Alzheimer’s detection, achieving an accuracy of around 50%, barely better than random guessing. This low performance is likely due to converting grayscale MRI images to RGB, which may have introduced noise or caused a loss of important information. Since VGG16 is optimized for color images, this transformation negatively impacted its ability to effectively classify the images.</a:t>
            </a:r>
            <a:r>
              <a:rPr lang="en-IN" sz="2600" dirty="0"/>
              <a:t> </a:t>
            </a:r>
          </a:p>
        </p:txBody>
      </p:sp>
      <p:sp>
        <p:nvSpPr>
          <p:cNvPr id="4" name="Title 1">
            <a:extLst>
              <a:ext uri="{FF2B5EF4-FFF2-40B4-BE49-F238E27FC236}">
                <a16:creationId xmlns:a16="http://schemas.microsoft.com/office/drawing/2014/main" id="{4F631FB5-9BA7-4419-A65D-4A0A55319C3A}"/>
              </a:ext>
            </a:extLst>
          </p:cNvPr>
          <p:cNvSpPr>
            <a:spLocks noGrp="1"/>
          </p:cNvSpPr>
          <p:nvPr>
            <p:ph type="title"/>
          </p:nvPr>
        </p:nvSpPr>
        <p:spPr>
          <a:xfrm>
            <a:off x="838200" y="0"/>
            <a:ext cx="10515600" cy="1325563"/>
          </a:xfrm>
        </p:spPr>
        <p:txBody>
          <a:bodyPr/>
          <a:lstStyle/>
          <a:p>
            <a:r>
              <a:rPr lang="en-US" dirty="0"/>
              <a:t>                                Results</a:t>
            </a:r>
            <a:endParaRPr lang="en-IN" dirty="0"/>
          </a:p>
        </p:txBody>
      </p:sp>
    </p:spTree>
    <p:extLst>
      <p:ext uri="{BB962C8B-B14F-4D97-AF65-F5344CB8AC3E}">
        <p14:creationId xmlns:p14="http://schemas.microsoft.com/office/powerpoint/2010/main" val="3450392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E634840-ABB9-4E5B-BC26-DBE7D4EA299B}"/>
              </a:ext>
            </a:extLst>
          </p:cNvPr>
          <p:cNvPicPr>
            <a:picLocks noGrp="1" noChangeAspect="1"/>
          </p:cNvPicPr>
          <p:nvPr>
            <p:ph idx="1"/>
          </p:nvPr>
        </p:nvPicPr>
        <p:blipFill>
          <a:blip r:embed="rId2"/>
          <a:stretch>
            <a:fillRect/>
          </a:stretch>
        </p:blipFill>
        <p:spPr>
          <a:xfrm>
            <a:off x="2082800" y="1214155"/>
            <a:ext cx="8026399" cy="4048690"/>
          </a:xfrm>
        </p:spPr>
      </p:pic>
      <p:sp>
        <p:nvSpPr>
          <p:cNvPr id="4" name="Title 1">
            <a:extLst>
              <a:ext uri="{FF2B5EF4-FFF2-40B4-BE49-F238E27FC236}">
                <a16:creationId xmlns:a16="http://schemas.microsoft.com/office/drawing/2014/main" id="{4F631FB5-9BA7-4419-A65D-4A0A55319C3A}"/>
              </a:ext>
            </a:extLst>
          </p:cNvPr>
          <p:cNvSpPr>
            <a:spLocks noGrp="1"/>
          </p:cNvSpPr>
          <p:nvPr>
            <p:ph type="title"/>
          </p:nvPr>
        </p:nvSpPr>
        <p:spPr>
          <a:xfrm>
            <a:off x="838200" y="0"/>
            <a:ext cx="10515600" cy="1325563"/>
          </a:xfrm>
        </p:spPr>
        <p:txBody>
          <a:bodyPr/>
          <a:lstStyle/>
          <a:p>
            <a:r>
              <a:rPr lang="en-US" dirty="0"/>
              <a:t>                                Results</a:t>
            </a:r>
            <a:endParaRPr lang="en-IN" dirty="0"/>
          </a:p>
        </p:txBody>
      </p:sp>
      <p:sp>
        <p:nvSpPr>
          <p:cNvPr id="6" name="Title 1">
            <a:extLst>
              <a:ext uri="{FF2B5EF4-FFF2-40B4-BE49-F238E27FC236}">
                <a16:creationId xmlns:a16="http://schemas.microsoft.com/office/drawing/2014/main" id="{F564FB68-83F4-4312-A868-FE867C5EE202}"/>
              </a:ext>
            </a:extLst>
          </p:cNvPr>
          <p:cNvSpPr txBox="1">
            <a:spLocks/>
          </p:cNvSpPr>
          <p:nvPr/>
        </p:nvSpPr>
        <p:spPr>
          <a:xfrm>
            <a:off x="393700" y="515143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a:t>
            </a:r>
            <a:r>
              <a:rPr lang="en-IN" sz="2600" dirty="0">
                <a:latin typeface="+mn-lt"/>
              </a:rPr>
              <a:t>VGG16 Architecture</a:t>
            </a:r>
          </a:p>
        </p:txBody>
      </p:sp>
    </p:spTree>
    <p:extLst>
      <p:ext uri="{BB962C8B-B14F-4D97-AF65-F5344CB8AC3E}">
        <p14:creationId xmlns:p14="http://schemas.microsoft.com/office/powerpoint/2010/main" val="2667018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C48BD-2FE2-4D73-A262-FFF69D7A0766}"/>
              </a:ext>
            </a:extLst>
          </p:cNvPr>
          <p:cNvSpPr>
            <a:spLocks noGrp="1"/>
          </p:cNvSpPr>
          <p:nvPr>
            <p:ph idx="1"/>
          </p:nvPr>
        </p:nvSpPr>
        <p:spPr>
          <a:xfrm>
            <a:off x="838200" y="1253331"/>
            <a:ext cx="10515600" cy="4351338"/>
          </a:xfrm>
        </p:spPr>
        <p:txBody>
          <a:bodyPr>
            <a:normAutofit/>
          </a:bodyPr>
          <a:lstStyle/>
          <a:p>
            <a:pPr algn="just"/>
            <a:r>
              <a:rPr lang="en-IN" sz="2600" b="1" dirty="0"/>
              <a:t>EfficientNetB0: </a:t>
            </a:r>
            <a:r>
              <a:rPr lang="en-US" sz="2600" dirty="0"/>
              <a:t>The EfficientNetB0 model, when trained with a learning rate of 0.01, achieved an accuracy of 85.46% and a loss of 0.4405. Resizing the images to 128x128 led to a slightly lower accuracy of 83.52% with a loss of 0.745. The model's performance, evaluated through a confusion matrix, showed high accuracy in identifying true positives, making it effective for Alzheimer's disease diagnosis, with a relatively low number of false negatives, which is crucial in medical applications.</a:t>
            </a:r>
            <a:endParaRPr lang="en-IN" sz="2600" b="1" dirty="0"/>
          </a:p>
        </p:txBody>
      </p:sp>
      <p:sp>
        <p:nvSpPr>
          <p:cNvPr id="4" name="Title 1">
            <a:extLst>
              <a:ext uri="{FF2B5EF4-FFF2-40B4-BE49-F238E27FC236}">
                <a16:creationId xmlns:a16="http://schemas.microsoft.com/office/drawing/2014/main" id="{4F631FB5-9BA7-4419-A65D-4A0A55319C3A}"/>
              </a:ext>
            </a:extLst>
          </p:cNvPr>
          <p:cNvSpPr>
            <a:spLocks noGrp="1"/>
          </p:cNvSpPr>
          <p:nvPr>
            <p:ph type="title"/>
          </p:nvPr>
        </p:nvSpPr>
        <p:spPr>
          <a:xfrm>
            <a:off x="838200" y="0"/>
            <a:ext cx="10515600" cy="1325563"/>
          </a:xfrm>
        </p:spPr>
        <p:txBody>
          <a:bodyPr/>
          <a:lstStyle/>
          <a:p>
            <a:r>
              <a:rPr lang="en-US" dirty="0"/>
              <a:t>                                Results</a:t>
            </a:r>
            <a:endParaRPr lang="en-IN" dirty="0"/>
          </a:p>
        </p:txBody>
      </p:sp>
    </p:spTree>
    <p:extLst>
      <p:ext uri="{BB962C8B-B14F-4D97-AF65-F5344CB8AC3E}">
        <p14:creationId xmlns:p14="http://schemas.microsoft.com/office/powerpoint/2010/main" val="917725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0A20A83-F3BD-40FB-AADD-09234EB1D5A5}"/>
              </a:ext>
            </a:extLst>
          </p:cNvPr>
          <p:cNvPicPr>
            <a:picLocks noGrp="1" noChangeAspect="1"/>
          </p:cNvPicPr>
          <p:nvPr>
            <p:ph idx="1"/>
          </p:nvPr>
        </p:nvPicPr>
        <p:blipFill>
          <a:blip r:embed="rId2"/>
          <a:stretch>
            <a:fillRect/>
          </a:stretch>
        </p:blipFill>
        <p:spPr>
          <a:xfrm rot="5400000">
            <a:off x="3692153" y="1906566"/>
            <a:ext cx="5169643" cy="3321050"/>
          </a:xfrm>
        </p:spPr>
      </p:pic>
      <p:sp>
        <p:nvSpPr>
          <p:cNvPr id="4" name="Title 1">
            <a:extLst>
              <a:ext uri="{FF2B5EF4-FFF2-40B4-BE49-F238E27FC236}">
                <a16:creationId xmlns:a16="http://schemas.microsoft.com/office/drawing/2014/main" id="{4F631FB5-9BA7-4419-A65D-4A0A55319C3A}"/>
              </a:ext>
            </a:extLst>
          </p:cNvPr>
          <p:cNvSpPr>
            <a:spLocks noGrp="1"/>
          </p:cNvSpPr>
          <p:nvPr>
            <p:ph type="title"/>
          </p:nvPr>
        </p:nvSpPr>
        <p:spPr>
          <a:xfrm>
            <a:off x="3854450" y="5988342"/>
            <a:ext cx="5613400" cy="582414"/>
          </a:xfrm>
        </p:spPr>
        <p:txBody>
          <a:bodyPr>
            <a:normAutofit fontScale="90000"/>
          </a:bodyPr>
          <a:lstStyle/>
          <a:p>
            <a:r>
              <a:rPr lang="en-US" dirty="0"/>
              <a:t>                                </a:t>
            </a:r>
            <a:r>
              <a:rPr lang="en-IN" sz="2900" dirty="0">
                <a:latin typeface="+mn-lt"/>
              </a:rPr>
              <a:t>EffiecientNetB0 Architecture </a:t>
            </a:r>
          </a:p>
        </p:txBody>
      </p:sp>
      <p:sp>
        <p:nvSpPr>
          <p:cNvPr id="6" name="Title 1">
            <a:extLst>
              <a:ext uri="{FF2B5EF4-FFF2-40B4-BE49-F238E27FC236}">
                <a16:creationId xmlns:a16="http://schemas.microsoft.com/office/drawing/2014/main" id="{52678ECE-3D3F-493B-8B2C-75854FAA61C6}"/>
              </a:ext>
            </a:extLst>
          </p:cNvPr>
          <p:cNvSpPr txBox="1">
            <a:spLocks/>
          </p:cNvSpPr>
          <p:nvPr/>
        </p:nvSpPr>
        <p:spPr>
          <a:xfrm>
            <a:off x="95659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Results</a:t>
            </a:r>
            <a:endParaRPr lang="en-IN" dirty="0"/>
          </a:p>
        </p:txBody>
      </p:sp>
    </p:spTree>
    <p:extLst>
      <p:ext uri="{BB962C8B-B14F-4D97-AF65-F5344CB8AC3E}">
        <p14:creationId xmlns:p14="http://schemas.microsoft.com/office/powerpoint/2010/main" val="3390755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15738-4032-513A-51B2-BA72B7AE3AB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B923165-0F83-2C8D-EFDE-817E42671270}"/>
              </a:ext>
            </a:extLst>
          </p:cNvPr>
          <p:cNvSpPr>
            <a:spLocks noGrp="1"/>
          </p:cNvSpPr>
          <p:nvPr>
            <p:ph type="title"/>
          </p:nvPr>
        </p:nvSpPr>
        <p:spPr>
          <a:xfrm>
            <a:off x="3854450" y="5988342"/>
            <a:ext cx="5613400" cy="582414"/>
          </a:xfrm>
        </p:spPr>
        <p:txBody>
          <a:bodyPr>
            <a:normAutofit fontScale="90000"/>
          </a:bodyPr>
          <a:lstStyle/>
          <a:p>
            <a:r>
              <a:rPr lang="en-US" dirty="0"/>
              <a:t>                               </a:t>
            </a:r>
            <a:r>
              <a:rPr lang="en-IN" sz="2900" dirty="0">
                <a:latin typeface="+mn-lt"/>
              </a:rPr>
              <a:t> </a:t>
            </a:r>
          </a:p>
        </p:txBody>
      </p:sp>
      <p:sp>
        <p:nvSpPr>
          <p:cNvPr id="6" name="Title 1">
            <a:extLst>
              <a:ext uri="{FF2B5EF4-FFF2-40B4-BE49-F238E27FC236}">
                <a16:creationId xmlns:a16="http://schemas.microsoft.com/office/drawing/2014/main" id="{7442E5D2-3ED8-A17B-47DC-E0D7AAD57BA4}"/>
              </a:ext>
            </a:extLst>
          </p:cNvPr>
          <p:cNvSpPr txBox="1">
            <a:spLocks/>
          </p:cNvSpPr>
          <p:nvPr/>
        </p:nvSpPr>
        <p:spPr>
          <a:xfrm>
            <a:off x="95659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Results</a:t>
            </a:r>
            <a:endParaRPr lang="en-IN" dirty="0"/>
          </a:p>
        </p:txBody>
      </p:sp>
      <p:sp>
        <p:nvSpPr>
          <p:cNvPr id="3" name="Content Placeholder 2">
            <a:extLst>
              <a:ext uri="{FF2B5EF4-FFF2-40B4-BE49-F238E27FC236}">
                <a16:creationId xmlns:a16="http://schemas.microsoft.com/office/drawing/2014/main" id="{15DB0A82-EEFF-92DE-6958-DE688EABF91B}"/>
              </a:ext>
            </a:extLst>
          </p:cNvPr>
          <p:cNvSpPr>
            <a:spLocks noGrp="1"/>
          </p:cNvSpPr>
          <p:nvPr>
            <p:ph idx="1"/>
          </p:nvPr>
        </p:nvSpPr>
        <p:spPr/>
        <p:txBody>
          <a:bodyPr/>
          <a:lstStyle/>
          <a:p>
            <a:pPr marL="0" indent="0" algn="just">
              <a:buNone/>
            </a:pPr>
            <a:r>
              <a:rPr lang="en-US" b="1" dirty="0"/>
              <a:t>Tiny CNN model:</a:t>
            </a:r>
          </a:p>
          <a:p>
            <a:pPr algn="just"/>
            <a:r>
              <a:rPr lang="en-US" dirty="0"/>
              <a:t>Input Layer: Accepts small images (e.g., 32x32 or 64x64 pixels).</a:t>
            </a:r>
          </a:p>
          <a:p>
            <a:pPr algn="just"/>
            <a:r>
              <a:rPr lang="en-US" dirty="0"/>
              <a:t>Conv Layer 1: Applies a few filters (e.g., 16 filters of 3x3) with ReLU activation.</a:t>
            </a:r>
          </a:p>
          <a:p>
            <a:pPr algn="just"/>
            <a:r>
              <a:rPr lang="en-US" dirty="0" err="1"/>
              <a:t>MaxPooling</a:t>
            </a:r>
            <a:r>
              <a:rPr lang="en-US" dirty="0"/>
              <a:t> Layer: Reduces spatial dimensions (e.g., 2x2 pooling).</a:t>
            </a:r>
          </a:p>
          <a:p>
            <a:pPr algn="just"/>
            <a:r>
              <a:rPr lang="en-US" dirty="0"/>
              <a:t>Conv Layer 2: Adds more filters (e.g., 32 filters of 3x3) with ReLU and another pooling layer.</a:t>
            </a:r>
          </a:p>
          <a:p>
            <a:pPr algn="just"/>
            <a:r>
              <a:rPr lang="en-US" dirty="0"/>
              <a:t>Fully Connected Layer: Flattens output and ends with a </a:t>
            </a:r>
            <a:r>
              <a:rPr lang="en-US" dirty="0" err="1"/>
              <a:t>softmax</a:t>
            </a:r>
            <a:r>
              <a:rPr lang="en-US" dirty="0"/>
              <a:t> or sigmoid layer for classification.</a:t>
            </a:r>
          </a:p>
        </p:txBody>
      </p:sp>
    </p:spTree>
    <p:extLst>
      <p:ext uri="{BB962C8B-B14F-4D97-AF65-F5344CB8AC3E}">
        <p14:creationId xmlns:p14="http://schemas.microsoft.com/office/powerpoint/2010/main" val="2524343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8909D-8E12-BFFC-99CD-A4D9CD92477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87C6454-AAC8-F762-F15D-F8535B6F5EED}"/>
              </a:ext>
            </a:extLst>
          </p:cNvPr>
          <p:cNvSpPr>
            <a:spLocks noGrp="1"/>
          </p:cNvSpPr>
          <p:nvPr>
            <p:ph type="title"/>
          </p:nvPr>
        </p:nvSpPr>
        <p:spPr>
          <a:xfrm>
            <a:off x="3854450" y="5988342"/>
            <a:ext cx="5613400" cy="582414"/>
          </a:xfrm>
        </p:spPr>
        <p:txBody>
          <a:bodyPr>
            <a:normAutofit fontScale="90000"/>
          </a:bodyPr>
          <a:lstStyle/>
          <a:p>
            <a:r>
              <a:rPr lang="en-US" dirty="0"/>
              <a:t>                               </a:t>
            </a:r>
            <a:r>
              <a:rPr lang="en-IN" sz="2900" dirty="0">
                <a:latin typeface="+mn-lt"/>
              </a:rPr>
              <a:t> </a:t>
            </a:r>
          </a:p>
        </p:txBody>
      </p:sp>
      <p:sp>
        <p:nvSpPr>
          <p:cNvPr id="6" name="Title 1">
            <a:extLst>
              <a:ext uri="{FF2B5EF4-FFF2-40B4-BE49-F238E27FC236}">
                <a16:creationId xmlns:a16="http://schemas.microsoft.com/office/drawing/2014/main" id="{E64D1716-C33B-1A95-1D0D-E26FF3352523}"/>
              </a:ext>
            </a:extLst>
          </p:cNvPr>
          <p:cNvSpPr txBox="1">
            <a:spLocks/>
          </p:cNvSpPr>
          <p:nvPr/>
        </p:nvSpPr>
        <p:spPr>
          <a:xfrm>
            <a:off x="95659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Results</a:t>
            </a:r>
            <a:endParaRPr lang="en-IN" dirty="0"/>
          </a:p>
        </p:txBody>
      </p:sp>
      <p:pic>
        <p:nvPicPr>
          <p:cNvPr id="2" name="Content Placeholder 1">
            <a:extLst>
              <a:ext uri="{FF2B5EF4-FFF2-40B4-BE49-F238E27FC236}">
                <a16:creationId xmlns:a16="http://schemas.microsoft.com/office/drawing/2014/main" id="{AD09E692-5366-F31A-7452-956EDA935E56}"/>
              </a:ext>
            </a:extLst>
          </p:cNvPr>
          <p:cNvPicPr>
            <a:picLocks noGrp="1" noChangeAspect="1"/>
          </p:cNvPicPr>
          <p:nvPr>
            <p:ph idx="1"/>
          </p:nvPr>
        </p:nvPicPr>
        <p:blipFill>
          <a:blip r:embed="rId2"/>
          <a:stretch>
            <a:fillRect/>
          </a:stretch>
        </p:blipFill>
        <p:spPr>
          <a:xfrm>
            <a:off x="585927" y="1325563"/>
            <a:ext cx="5078026" cy="4105313"/>
          </a:xfrm>
          <a:prstGeom prst="rect">
            <a:avLst/>
          </a:prstGeom>
        </p:spPr>
      </p:pic>
      <p:pic>
        <p:nvPicPr>
          <p:cNvPr id="5" name="Picture 4">
            <a:extLst>
              <a:ext uri="{FF2B5EF4-FFF2-40B4-BE49-F238E27FC236}">
                <a16:creationId xmlns:a16="http://schemas.microsoft.com/office/drawing/2014/main" id="{B6F3D487-A309-12BE-7ACE-EBE32B2FCCD3}"/>
              </a:ext>
            </a:extLst>
          </p:cNvPr>
          <p:cNvPicPr>
            <a:picLocks noChangeAspect="1"/>
          </p:cNvPicPr>
          <p:nvPr/>
        </p:nvPicPr>
        <p:blipFill>
          <a:blip r:embed="rId3"/>
          <a:stretch>
            <a:fillRect/>
          </a:stretch>
        </p:blipFill>
        <p:spPr>
          <a:xfrm>
            <a:off x="5850383" y="1325563"/>
            <a:ext cx="5385023" cy="4105313"/>
          </a:xfrm>
          <a:prstGeom prst="rect">
            <a:avLst/>
          </a:prstGeom>
        </p:spPr>
      </p:pic>
    </p:spTree>
    <p:extLst>
      <p:ext uri="{BB962C8B-B14F-4D97-AF65-F5344CB8AC3E}">
        <p14:creationId xmlns:p14="http://schemas.microsoft.com/office/powerpoint/2010/main" val="695138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253F4-7A2E-FEA3-C4F0-4283F21BA72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BD95843-338F-7A9F-0D47-84A830B9B476}"/>
              </a:ext>
            </a:extLst>
          </p:cNvPr>
          <p:cNvSpPr>
            <a:spLocks noGrp="1"/>
          </p:cNvSpPr>
          <p:nvPr>
            <p:ph type="title"/>
          </p:nvPr>
        </p:nvSpPr>
        <p:spPr>
          <a:xfrm>
            <a:off x="359021" y="0"/>
            <a:ext cx="10515600" cy="1325563"/>
          </a:xfrm>
        </p:spPr>
        <p:txBody>
          <a:bodyPr/>
          <a:lstStyle/>
          <a:p>
            <a:r>
              <a:rPr lang="en-US" dirty="0"/>
              <a:t>                                   Results</a:t>
            </a:r>
            <a:endParaRPr lang="en-IN" dirty="0"/>
          </a:p>
        </p:txBody>
      </p:sp>
      <p:pic>
        <p:nvPicPr>
          <p:cNvPr id="5" name="Content Placeholder 4">
            <a:extLst>
              <a:ext uri="{FF2B5EF4-FFF2-40B4-BE49-F238E27FC236}">
                <a16:creationId xmlns:a16="http://schemas.microsoft.com/office/drawing/2014/main" id="{407FC0F5-3535-C076-AE7F-C3B42C3E64B3}"/>
              </a:ext>
            </a:extLst>
          </p:cNvPr>
          <p:cNvPicPr>
            <a:picLocks noGrp="1" noChangeAspect="1"/>
          </p:cNvPicPr>
          <p:nvPr>
            <p:ph idx="1"/>
          </p:nvPr>
        </p:nvPicPr>
        <p:blipFill>
          <a:blip r:embed="rId2"/>
          <a:stretch>
            <a:fillRect/>
          </a:stretch>
        </p:blipFill>
        <p:spPr>
          <a:xfrm>
            <a:off x="3362325" y="1325563"/>
            <a:ext cx="5467350" cy="5093898"/>
          </a:xfrm>
          <a:prstGeom prst="rect">
            <a:avLst/>
          </a:prstGeom>
        </p:spPr>
      </p:pic>
    </p:spTree>
    <p:extLst>
      <p:ext uri="{BB962C8B-B14F-4D97-AF65-F5344CB8AC3E}">
        <p14:creationId xmlns:p14="http://schemas.microsoft.com/office/powerpoint/2010/main" val="2442235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2C7191-41BB-472A-B9D1-9467BED6261B}"/>
              </a:ext>
            </a:extLst>
          </p:cNvPr>
          <p:cNvSpPr>
            <a:spLocks noGrp="1"/>
          </p:cNvSpPr>
          <p:nvPr>
            <p:ph type="title"/>
          </p:nvPr>
        </p:nvSpPr>
        <p:spPr>
          <a:xfrm>
            <a:off x="359021" y="0"/>
            <a:ext cx="10515600" cy="1325563"/>
          </a:xfrm>
        </p:spPr>
        <p:txBody>
          <a:bodyPr/>
          <a:lstStyle/>
          <a:p>
            <a:r>
              <a:rPr lang="en-US" dirty="0"/>
              <a:t>                                   Results</a:t>
            </a:r>
            <a:endParaRPr lang="en-IN" dirty="0"/>
          </a:p>
        </p:txBody>
      </p:sp>
      <p:graphicFrame>
        <p:nvGraphicFramePr>
          <p:cNvPr id="6" name="Content Placeholder 5">
            <a:extLst>
              <a:ext uri="{FF2B5EF4-FFF2-40B4-BE49-F238E27FC236}">
                <a16:creationId xmlns:a16="http://schemas.microsoft.com/office/drawing/2014/main" id="{7F63BE0D-A4AA-9B28-C38B-E6ACF089225F}"/>
              </a:ext>
            </a:extLst>
          </p:cNvPr>
          <p:cNvGraphicFramePr>
            <a:graphicFrameLocks noGrp="1"/>
          </p:cNvGraphicFramePr>
          <p:nvPr>
            <p:ph idx="1"/>
            <p:extLst>
              <p:ext uri="{D42A27DB-BD31-4B8C-83A1-F6EECF244321}">
                <p14:modId xmlns:p14="http://schemas.microsoft.com/office/powerpoint/2010/main" val="888221805"/>
              </p:ext>
            </p:extLst>
          </p:nvPr>
        </p:nvGraphicFramePr>
        <p:xfrm>
          <a:off x="1145219" y="1118585"/>
          <a:ext cx="10147177" cy="5104660"/>
        </p:xfrm>
        <a:graphic>
          <a:graphicData uri="http://schemas.openxmlformats.org/drawingml/2006/table">
            <a:tbl>
              <a:tblPr firstRow="1" firstCol="1" bandRow="1">
                <a:tableStyleId>{5C22544A-7EE6-4342-B048-85BDC9FD1C3A}</a:tableStyleId>
              </a:tblPr>
              <a:tblGrid>
                <a:gridCol w="4107191">
                  <a:extLst>
                    <a:ext uri="{9D8B030D-6E8A-4147-A177-3AD203B41FA5}">
                      <a16:colId xmlns:a16="http://schemas.microsoft.com/office/drawing/2014/main" val="1362485577"/>
                    </a:ext>
                  </a:extLst>
                </a:gridCol>
                <a:gridCol w="1727136">
                  <a:extLst>
                    <a:ext uri="{9D8B030D-6E8A-4147-A177-3AD203B41FA5}">
                      <a16:colId xmlns:a16="http://schemas.microsoft.com/office/drawing/2014/main" val="27300127"/>
                    </a:ext>
                  </a:extLst>
                </a:gridCol>
                <a:gridCol w="1389696">
                  <a:extLst>
                    <a:ext uri="{9D8B030D-6E8A-4147-A177-3AD203B41FA5}">
                      <a16:colId xmlns:a16="http://schemas.microsoft.com/office/drawing/2014/main" val="1131680504"/>
                    </a:ext>
                  </a:extLst>
                </a:gridCol>
                <a:gridCol w="1593358">
                  <a:extLst>
                    <a:ext uri="{9D8B030D-6E8A-4147-A177-3AD203B41FA5}">
                      <a16:colId xmlns:a16="http://schemas.microsoft.com/office/drawing/2014/main" val="1682098955"/>
                    </a:ext>
                  </a:extLst>
                </a:gridCol>
                <a:gridCol w="1329796">
                  <a:extLst>
                    <a:ext uri="{9D8B030D-6E8A-4147-A177-3AD203B41FA5}">
                      <a16:colId xmlns:a16="http://schemas.microsoft.com/office/drawing/2014/main" val="402305446"/>
                    </a:ext>
                  </a:extLst>
                </a:gridCol>
              </a:tblGrid>
              <a:tr h="764187">
                <a:tc>
                  <a:txBody>
                    <a:bodyPr/>
                    <a:lstStyle/>
                    <a:p>
                      <a:pPr algn="just">
                        <a:lnSpc>
                          <a:spcPct val="115000"/>
                        </a:lnSpc>
                        <a:buNone/>
                        <a:tabLst>
                          <a:tab pos="2329815" algn="l"/>
                        </a:tabLst>
                      </a:pPr>
                      <a:r>
                        <a:rPr lang="en-IN" sz="1400" kern="100" dirty="0">
                          <a:effectLst/>
                        </a:rPr>
                        <a:t> </a:t>
                      </a:r>
                      <a:endParaRPr lang="en-US" sz="1400" kern="100" dirty="0">
                        <a:effectLst/>
                      </a:endParaRPr>
                    </a:p>
                    <a:p>
                      <a:pPr algn="just">
                        <a:lnSpc>
                          <a:spcPct val="115000"/>
                        </a:lnSpc>
                        <a:buNone/>
                        <a:tabLst>
                          <a:tab pos="2329815" algn="l"/>
                        </a:tabLst>
                      </a:pPr>
                      <a:r>
                        <a:rPr lang="en-IN" sz="1400" kern="100" dirty="0">
                          <a:effectLst/>
                        </a:rPr>
                        <a:t>        </a:t>
                      </a:r>
                      <a:endParaRPr lang="en-US" sz="1400" kern="100" dirty="0">
                        <a:effectLst/>
                      </a:endParaRPr>
                    </a:p>
                    <a:p>
                      <a:pPr algn="just">
                        <a:lnSpc>
                          <a:spcPct val="115000"/>
                        </a:lnSpc>
                        <a:buNone/>
                        <a:tabLst>
                          <a:tab pos="2329815" algn="l"/>
                        </a:tabLst>
                      </a:pPr>
                      <a:r>
                        <a:rPr lang="en-IN" sz="1400" kern="100" dirty="0">
                          <a:effectLst/>
                        </a:rPr>
                        <a:t>       Proposed Method</a:t>
                      </a:r>
                      <a:endParaRPr lang="en-US" sz="1400" kern="100" dirty="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400" kern="100" dirty="0">
                          <a:effectLst/>
                        </a:rPr>
                        <a:t> </a:t>
                      </a:r>
                      <a:endParaRPr lang="en-US" sz="1400" kern="100" dirty="0">
                        <a:effectLst/>
                      </a:endParaRPr>
                    </a:p>
                    <a:p>
                      <a:pPr algn="just">
                        <a:lnSpc>
                          <a:spcPct val="115000"/>
                        </a:lnSpc>
                        <a:buNone/>
                        <a:tabLst>
                          <a:tab pos="2329815" algn="l"/>
                        </a:tabLst>
                      </a:pPr>
                      <a:r>
                        <a:rPr lang="en-IN" sz="1400" kern="100" dirty="0">
                          <a:effectLst/>
                        </a:rPr>
                        <a:t>  </a:t>
                      </a:r>
                      <a:endParaRPr lang="en-US" sz="1400" kern="100" dirty="0">
                        <a:effectLst/>
                      </a:endParaRPr>
                    </a:p>
                    <a:p>
                      <a:pPr algn="just">
                        <a:lnSpc>
                          <a:spcPct val="115000"/>
                        </a:lnSpc>
                        <a:buNone/>
                        <a:tabLst>
                          <a:tab pos="2329815" algn="l"/>
                        </a:tabLst>
                      </a:pPr>
                      <a:r>
                        <a:rPr lang="en-IN" sz="1400" kern="100" dirty="0">
                          <a:effectLst/>
                        </a:rPr>
                        <a:t>Accuracy</a:t>
                      </a:r>
                      <a:endParaRPr lang="en-US" sz="1400" kern="100" dirty="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400" kern="100" dirty="0">
                          <a:effectLst/>
                        </a:rPr>
                        <a:t> </a:t>
                      </a:r>
                      <a:endParaRPr lang="en-US" sz="1400" kern="100" dirty="0">
                        <a:effectLst/>
                      </a:endParaRPr>
                    </a:p>
                    <a:p>
                      <a:pPr algn="just">
                        <a:lnSpc>
                          <a:spcPct val="115000"/>
                        </a:lnSpc>
                        <a:buNone/>
                        <a:tabLst>
                          <a:tab pos="2329815" algn="l"/>
                        </a:tabLst>
                      </a:pPr>
                      <a:r>
                        <a:rPr lang="en-IN" sz="1400" kern="100" dirty="0">
                          <a:effectLst/>
                        </a:rPr>
                        <a:t> </a:t>
                      </a:r>
                      <a:endParaRPr lang="en-US" sz="1400" kern="100" dirty="0">
                        <a:effectLst/>
                      </a:endParaRPr>
                    </a:p>
                    <a:p>
                      <a:pPr algn="just">
                        <a:lnSpc>
                          <a:spcPct val="115000"/>
                        </a:lnSpc>
                        <a:buNone/>
                        <a:tabLst>
                          <a:tab pos="2329815" algn="l"/>
                        </a:tabLst>
                      </a:pPr>
                      <a:r>
                        <a:rPr lang="en-IN" sz="1400" kern="100" dirty="0">
                          <a:effectLst/>
                        </a:rPr>
                        <a:t>Precision</a:t>
                      </a:r>
                      <a:endParaRPr lang="en-US" sz="1400" kern="100" dirty="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400" kern="100" dirty="0">
                          <a:effectLst/>
                        </a:rPr>
                        <a:t> </a:t>
                      </a:r>
                      <a:endParaRPr lang="en-US" sz="1400" kern="100" dirty="0">
                        <a:effectLst/>
                      </a:endParaRPr>
                    </a:p>
                    <a:p>
                      <a:pPr algn="just">
                        <a:lnSpc>
                          <a:spcPct val="115000"/>
                        </a:lnSpc>
                        <a:buNone/>
                        <a:tabLst>
                          <a:tab pos="2329815" algn="l"/>
                        </a:tabLst>
                      </a:pPr>
                      <a:r>
                        <a:rPr lang="en-IN" sz="1400" kern="100" dirty="0">
                          <a:effectLst/>
                        </a:rPr>
                        <a:t> </a:t>
                      </a:r>
                      <a:endParaRPr lang="en-US" sz="1400" kern="100" dirty="0">
                        <a:effectLst/>
                      </a:endParaRPr>
                    </a:p>
                    <a:p>
                      <a:pPr algn="just">
                        <a:lnSpc>
                          <a:spcPct val="115000"/>
                        </a:lnSpc>
                        <a:buNone/>
                        <a:tabLst>
                          <a:tab pos="2329815" algn="l"/>
                        </a:tabLst>
                      </a:pPr>
                      <a:r>
                        <a:rPr lang="en-IN" sz="1400" kern="100" dirty="0">
                          <a:effectLst/>
                        </a:rPr>
                        <a:t>Recall</a:t>
                      </a:r>
                      <a:endParaRPr lang="en-US" sz="1400" kern="100" dirty="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400" kern="100" dirty="0">
                          <a:effectLst/>
                        </a:rPr>
                        <a:t> </a:t>
                      </a:r>
                      <a:endParaRPr lang="en-US" sz="1400" kern="100" dirty="0">
                        <a:effectLst/>
                      </a:endParaRPr>
                    </a:p>
                    <a:p>
                      <a:pPr algn="just">
                        <a:lnSpc>
                          <a:spcPct val="115000"/>
                        </a:lnSpc>
                        <a:buNone/>
                        <a:tabLst>
                          <a:tab pos="2329815" algn="l"/>
                        </a:tabLst>
                      </a:pPr>
                      <a:r>
                        <a:rPr lang="en-IN" sz="1400" kern="100" dirty="0">
                          <a:effectLst/>
                        </a:rPr>
                        <a:t>F1-Score</a:t>
                      </a:r>
                      <a:endParaRPr lang="en-US" sz="1400" kern="100" dirty="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extLst>
                  <a:ext uri="{0D108BD9-81ED-4DB2-BD59-A6C34878D82A}">
                    <a16:rowId xmlns:a16="http://schemas.microsoft.com/office/drawing/2014/main" val="3290757355"/>
                  </a:ext>
                </a:extLst>
              </a:tr>
              <a:tr h="740188">
                <a:tc>
                  <a:txBody>
                    <a:bodyPr/>
                    <a:lstStyle/>
                    <a:p>
                      <a:pPr algn="just">
                        <a:lnSpc>
                          <a:spcPct val="115000"/>
                        </a:lnSpc>
                        <a:buNone/>
                        <a:tabLst>
                          <a:tab pos="2329815" algn="l"/>
                        </a:tabLst>
                      </a:pPr>
                      <a:r>
                        <a:rPr lang="en-IN" sz="1800" kern="100">
                          <a:effectLst/>
                        </a:rPr>
                        <a:t>Alzheimer’s Detection using CNN(VGG16)</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50%</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0.72</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0.56</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0.63</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extLst>
                  <a:ext uri="{0D108BD9-81ED-4DB2-BD59-A6C34878D82A}">
                    <a16:rowId xmlns:a16="http://schemas.microsoft.com/office/drawing/2014/main" val="518990567"/>
                  </a:ext>
                </a:extLst>
              </a:tr>
              <a:tr h="955124">
                <a:tc>
                  <a:txBody>
                    <a:bodyPr/>
                    <a:lstStyle/>
                    <a:p>
                      <a:pPr algn="just">
                        <a:lnSpc>
                          <a:spcPct val="115000"/>
                        </a:lnSpc>
                        <a:buNone/>
                        <a:tabLst>
                          <a:tab pos="2329815" algn="l"/>
                        </a:tabLst>
                      </a:pPr>
                      <a:r>
                        <a:rPr lang="en-IN" sz="1800" kern="100">
                          <a:effectLst/>
                        </a:rPr>
                        <a:t>Alzheimer’s Disease Classification using CNN(EfficientNetB0)-LR0.1</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50.7%</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0.78</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0.60</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dirty="0">
                          <a:effectLst/>
                        </a:rPr>
                        <a:t>0.68</a:t>
                      </a:r>
                      <a:endParaRPr lang="en-US" sz="1800" kern="100" dirty="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extLst>
                  <a:ext uri="{0D108BD9-81ED-4DB2-BD59-A6C34878D82A}">
                    <a16:rowId xmlns:a16="http://schemas.microsoft.com/office/drawing/2014/main" val="3911712412"/>
                  </a:ext>
                </a:extLst>
              </a:tr>
              <a:tr h="955124">
                <a:tc>
                  <a:txBody>
                    <a:bodyPr/>
                    <a:lstStyle/>
                    <a:p>
                      <a:pPr algn="just">
                        <a:lnSpc>
                          <a:spcPct val="115000"/>
                        </a:lnSpc>
                        <a:buNone/>
                        <a:tabLst>
                          <a:tab pos="2329815" algn="l"/>
                        </a:tabLst>
                      </a:pPr>
                      <a:r>
                        <a:rPr lang="en-IN" sz="1800" kern="100">
                          <a:effectLst/>
                        </a:rPr>
                        <a:t>Alzheimer’s Disease Classification using CNN(EfficientNetB0)-LR0.01</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85%</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0.83</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0.88</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0.86</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extLst>
                  <a:ext uri="{0D108BD9-81ED-4DB2-BD59-A6C34878D82A}">
                    <a16:rowId xmlns:a16="http://schemas.microsoft.com/office/drawing/2014/main" val="2969740840"/>
                  </a:ext>
                </a:extLst>
              </a:tr>
              <a:tr h="955124">
                <a:tc>
                  <a:txBody>
                    <a:bodyPr/>
                    <a:lstStyle/>
                    <a:p>
                      <a:pPr algn="just">
                        <a:lnSpc>
                          <a:spcPct val="115000"/>
                        </a:lnSpc>
                        <a:buNone/>
                        <a:tabLst>
                          <a:tab pos="2329815" algn="l"/>
                        </a:tabLst>
                      </a:pPr>
                      <a:r>
                        <a:rPr lang="en-IN" sz="1800" kern="100">
                          <a:effectLst/>
                        </a:rPr>
                        <a:t>Alzheimer’s Disease Classification using CNN(EfficientNetB0)-Resize</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83%</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0.77</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0.86</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0.81</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extLst>
                  <a:ext uri="{0D108BD9-81ED-4DB2-BD59-A6C34878D82A}">
                    <a16:rowId xmlns:a16="http://schemas.microsoft.com/office/drawing/2014/main" val="1725437703"/>
                  </a:ext>
                </a:extLst>
              </a:tr>
              <a:tr h="734913">
                <a:tc>
                  <a:txBody>
                    <a:bodyPr/>
                    <a:lstStyle/>
                    <a:p>
                      <a:pPr algn="just">
                        <a:lnSpc>
                          <a:spcPct val="115000"/>
                        </a:lnSpc>
                        <a:buNone/>
                        <a:tabLst>
                          <a:tab pos="2329815" algn="l"/>
                        </a:tabLst>
                      </a:pPr>
                      <a:r>
                        <a:rPr lang="en-IN" sz="1800" kern="100">
                          <a:effectLst/>
                        </a:rPr>
                        <a:t>Tiny-CNN</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98.98%</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0.992</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a:effectLst/>
                        </a:rPr>
                        <a:t>0.99</a:t>
                      </a:r>
                      <a:endParaRPr lang="en-US" sz="1800" kern="10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tc>
                  <a:txBody>
                    <a:bodyPr/>
                    <a:lstStyle/>
                    <a:p>
                      <a:pPr algn="just">
                        <a:lnSpc>
                          <a:spcPct val="115000"/>
                        </a:lnSpc>
                        <a:buNone/>
                        <a:tabLst>
                          <a:tab pos="2329815" algn="l"/>
                        </a:tabLst>
                      </a:pPr>
                      <a:r>
                        <a:rPr lang="en-IN" sz="1800" kern="100" dirty="0">
                          <a:effectLst/>
                        </a:rPr>
                        <a:t>0.991</a:t>
                      </a:r>
                      <a:endParaRPr lang="en-US" sz="1800" kern="100" dirty="0">
                        <a:effectLst/>
                        <a:latin typeface="Times New Roman" panose="02020603050405020304" pitchFamily="18" charset="0"/>
                        <a:ea typeface="SimSun" panose="02010600030101010101" pitchFamily="2" charset="-122"/>
                        <a:cs typeface="Mangal" panose="02040503050203030202" pitchFamily="18" charset="0"/>
                      </a:endParaRPr>
                    </a:p>
                  </a:txBody>
                  <a:tcPr marL="68580" marR="68580" marT="0" marB="0"/>
                </a:tc>
                <a:extLst>
                  <a:ext uri="{0D108BD9-81ED-4DB2-BD59-A6C34878D82A}">
                    <a16:rowId xmlns:a16="http://schemas.microsoft.com/office/drawing/2014/main" val="2061447397"/>
                  </a:ext>
                </a:extLst>
              </a:tr>
            </a:tbl>
          </a:graphicData>
        </a:graphic>
      </p:graphicFrame>
    </p:spTree>
    <p:extLst>
      <p:ext uri="{BB962C8B-B14F-4D97-AF65-F5344CB8AC3E}">
        <p14:creationId xmlns:p14="http://schemas.microsoft.com/office/powerpoint/2010/main" val="2734611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580EA9-1EAA-40FA-8435-0F53D5B9A544}"/>
              </a:ext>
            </a:extLst>
          </p:cNvPr>
          <p:cNvSpPr>
            <a:spLocks noGrp="1"/>
          </p:cNvSpPr>
          <p:nvPr>
            <p:ph idx="1"/>
          </p:nvPr>
        </p:nvSpPr>
        <p:spPr>
          <a:xfrm>
            <a:off x="838200" y="1612596"/>
            <a:ext cx="10515600" cy="4351338"/>
          </a:xfrm>
        </p:spPr>
        <p:txBody>
          <a:bodyPr>
            <a:normAutofit fontScale="92500" lnSpcReduction="10000"/>
          </a:bodyPr>
          <a:lstStyle/>
          <a:p>
            <a:pPr marL="0" indent="0" algn="just">
              <a:buNone/>
            </a:pPr>
            <a:r>
              <a:rPr lang="en-US" b="1" dirty="0"/>
              <a:t>Overall analysis : </a:t>
            </a:r>
          </a:p>
          <a:p>
            <a:pPr algn="just"/>
            <a:r>
              <a:rPr lang="en-US" dirty="0"/>
              <a:t>This study employed VGG16, EfficientNetB0, and TinyCNN architectures to classify MRI scans into four stages of Alzheimer’s disease.</a:t>
            </a:r>
          </a:p>
          <a:p>
            <a:pPr algn="just"/>
            <a:r>
              <a:rPr lang="en-US" dirty="0"/>
              <a:t>A dataset of approximately 5,120 images was utilized for training and testing using PyTorch, Keras, and TensorFlow frameworks.</a:t>
            </a:r>
          </a:p>
          <a:p>
            <a:pPr algn="just"/>
            <a:r>
              <a:rPr lang="en-US" dirty="0"/>
              <a:t>The models were evaluated using standard performance metrics and compared against existing approaches and parameter variations.</a:t>
            </a:r>
          </a:p>
          <a:p>
            <a:pPr algn="just"/>
            <a:r>
              <a:rPr lang="en-US" dirty="0"/>
              <a:t>TinyCNN demonstrated superior performance, achieving an accuracy of 98.98%.</a:t>
            </a:r>
          </a:p>
          <a:p>
            <a:pPr algn="just"/>
            <a:r>
              <a:rPr lang="en-US" dirty="0"/>
              <a:t>These results indicate that the proposed TinyCNN-based model offers a highly effective solution for Alzheimer’s classification.</a:t>
            </a:r>
            <a:endParaRPr lang="en-IN" dirty="0"/>
          </a:p>
        </p:txBody>
      </p:sp>
      <p:sp>
        <p:nvSpPr>
          <p:cNvPr id="6" name="Title 1">
            <a:extLst>
              <a:ext uri="{FF2B5EF4-FFF2-40B4-BE49-F238E27FC236}">
                <a16:creationId xmlns:a16="http://schemas.microsoft.com/office/drawing/2014/main" id="{B9B851A2-AD1F-4E33-947A-1D667F267402}"/>
              </a:ext>
            </a:extLst>
          </p:cNvPr>
          <p:cNvSpPr>
            <a:spLocks noGrp="1"/>
          </p:cNvSpPr>
          <p:nvPr>
            <p:ph type="title"/>
          </p:nvPr>
        </p:nvSpPr>
        <p:spPr>
          <a:xfrm>
            <a:off x="838200" y="287033"/>
            <a:ext cx="10515600" cy="1325563"/>
          </a:xfrm>
        </p:spPr>
        <p:txBody>
          <a:bodyPr/>
          <a:lstStyle/>
          <a:p>
            <a:r>
              <a:rPr lang="en-US" dirty="0"/>
              <a:t>                              Conclusion</a:t>
            </a:r>
            <a:endParaRPr lang="en-IN" dirty="0"/>
          </a:p>
        </p:txBody>
      </p:sp>
    </p:spTree>
    <p:extLst>
      <p:ext uri="{BB962C8B-B14F-4D97-AF65-F5344CB8AC3E}">
        <p14:creationId xmlns:p14="http://schemas.microsoft.com/office/powerpoint/2010/main" val="329976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5DF6C-533C-B427-D343-53837DB04DF5}"/>
              </a:ext>
            </a:extLst>
          </p:cNvPr>
          <p:cNvSpPr>
            <a:spLocks noGrp="1"/>
          </p:cNvSpPr>
          <p:nvPr>
            <p:ph type="title"/>
          </p:nvPr>
        </p:nvSpPr>
        <p:spPr>
          <a:xfrm>
            <a:off x="838200" y="87091"/>
            <a:ext cx="10515600" cy="1325563"/>
          </a:xfrm>
        </p:spPr>
        <p:txBody>
          <a:bodyPr/>
          <a:lstStyle/>
          <a:p>
            <a:pPr algn="ctr"/>
            <a:r>
              <a:rPr lang="en-US" dirty="0"/>
              <a:t>Software required</a:t>
            </a:r>
          </a:p>
        </p:txBody>
      </p:sp>
      <p:sp>
        <p:nvSpPr>
          <p:cNvPr id="3" name="Content Placeholder 2">
            <a:extLst>
              <a:ext uri="{FF2B5EF4-FFF2-40B4-BE49-F238E27FC236}">
                <a16:creationId xmlns:a16="http://schemas.microsoft.com/office/drawing/2014/main" id="{BB21EDD2-86AD-3483-FCF2-9700883AC144}"/>
              </a:ext>
            </a:extLst>
          </p:cNvPr>
          <p:cNvSpPr>
            <a:spLocks noGrp="1"/>
          </p:cNvSpPr>
          <p:nvPr>
            <p:ph idx="1"/>
          </p:nvPr>
        </p:nvSpPr>
        <p:spPr>
          <a:xfrm>
            <a:off x="275209" y="1114998"/>
            <a:ext cx="11851688" cy="5809585"/>
          </a:xfrm>
        </p:spPr>
        <p:txBody>
          <a:bodyPr>
            <a:noAutofit/>
          </a:bodyPr>
          <a:lstStyle/>
          <a:p>
            <a:pPr marL="0" indent="0" algn="just">
              <a:buNone/>
            </a:pPr>
            <a:r>
              <a:rPr lang="en-US" sz="2700" dirty="0"/>
              <a:t>Software- </a:t>
            </a:r>
          </a:p>
          <a:p>
            <a:pPr algn="just"/>
            <a:r>
              <a:rPr lang="en-US" sz="2700" dirty="0"/>
              <a:t>Deep learning frameworks like TensorFlow and PyTorch, Programming language is Python</a:t>
            </a:r>
          </a:p>
          <a:p>
            <a:pPr algn="just"/>
            <a:r>
              <a:rPr lang="en-US" sz="2700" dirty="0"/>
              <a:t>Data handling and processing tools like NumPy and Pandas for numerical and data manipulation in Python and OpenCV for computer vision tasks</a:t>
            </a:r>
          </a:p>
          <a:p>
            <a:pPr algn="just"/>
            <a:r>
              <a:rPr lang="en-US" sz="2700" dirty="0"/>
              <a:t> IDE( Integrated Development Environments) for coding and managing projects</a:t>
            </a:r>
          </a:p>
          <a:p>
            <a:pPr algn="just"/>
            <a:r>
              <a:rPr lang="en-US" sz="2700" dirty="0"/>
              <a:t>Matplotlib and Seaborn libraries and TensorBoard for creating plots and visualizations</a:t>
            </a:r>
          </a:p>
          <a:p>
            <a:pPr algn="just"/>
            <a:r>
              <a:rPr lang="en-US" sz="2700" dirty="0"/>
              <a:t>GitHub for hosting repositories and collaboration</a:t>
            </a:r>
          </a:p>
        </p:txBody>
      </p:sp>
    </p:spTree>
    <p:extLst>
      <p:ext uri="{BB962C8B-B14F-4D97-AF65-F5344CB8AC3E}">
        <p14:creationId xmlns:p14="http://schemas.microsoft.com/office/powerpoint/2010/main" val="3260565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330E-7F5B-66D6-7DBA-7699D94255F6}"/>
              </a:ext>
            </a:extLst>
          </p:cNvPr>
          <p:cNvSpPr>
            <a:spLocks noGrp="1"/>
          </p:cNvSpPr>
          <p:nvPr>
            <p:ph type="title"/>
          </p:nvPr>
        </p:nvSpPr>
        <p:spPr/>
        <p:txBody>
          <a:bodyPr/>
          <a:lstStyle/>
          <a:p>
            <a:pPr algn="ctr"/>
            <a:r>
              <a:rPr lang="en-US" dirty="0"/>
              <a:t>Hardware required</a:t>
            </a:r>
          </a:p>
        </p:txBody>
      </p:sp>
      <p:sp>
        <p:nvSpPr>
          <p:cNvPr id="3" name="Content Placeholder 2">
            <a:extLst>
              <a:ext uri="{FF2B5EF4-FFF2-40B4-BE49-F238E27FC236}">
                <a16:creationId xmlns:a16="http://schemas.microsoft.com/office/drawing/2014/main" id="{E26213AC-8C9D-1078-431E-080A16E24E85}"/>
              </a:ext>
            </a:extLst>
          </p:cNvPr>
          <p:cNvSpPr>
            <a:spLocks noGrp="1"/>
          </p:cNvSpPr>
          <p:nvPr>
            <p:ph idx="1"/>
          </p:nvPr>
        </p:nvSpPr>
        <p:spPr/>
        <p:txBody>
          <a:bodyPr/>
          <a:lstStyle/>
          <a:p>
            <a:pPr marL="0" indent="0" algn="just">
              <a:buNone/>
            </a:pPr>
            <a:r>
              <a:rPr lang="en-US" sz="2800" dirty="0"/>
              <a:t>Hardware-</a:t>
            </a:r>
          </a:p>
          <a:p>
            <a:pPr algn="just"/>
            <a:r>
              <a:rPr lang="en-US" sz="2800" dirty="0"/>
              <a:t>High performance hardware with robust CPU and at least 16GB RAM</a:t>
            </a:r>
          </a:p>
          <a:p>
            <a:pPr algn="just"/>
            <a:r>
              <a:rPr lang="en-US" sz="2800" dirty="0"/>
              <a:t>Fast SSD storage is recommended for quick data access and handling large datasets effectively</a:t>
            </a:r>
          </a:p>
          <a:p>
            <a:pPr algn="just"/>
            <a:endParaRPr lang="en-US" dirty="0"/>
          </a:p>
        </p:txBody>
      </p:sp>
    </p:spTree>
    <p:extLst>
      <p:ext uri="{BB962C8B-B14F-4D97-AF65-F5344CB8AC3E}">
        <p14:creationId xmlns:p14="http://schemas.microsoft.com/office/powerpoint/2010/main" val="617790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80944-CDD7-CE00-B2A8-4D88C4A6A100}"/>
              </a:ext>
            </a:extLst>
          </p:cNvPr>
          <p:cNvSpPr>
            <a:spLocks noGrp="1"/>
          </p:cNvSpPr>
          <p:nvPr>
            <p:ph type="title"/>
          </p:nvPr>
        </p:nvSpPr>
        <p:spPr>
          <a:xfrm>
            <a:off x="776056" y="87091"/>
            <a:ext cx="10515600" cy="1325563"/>
          </a:xfrm>
        </p:spPr>
        <p:txBody>
          <a:bodyPr/>
          <a:lstStyle/>
          <a:p>
            <a:pPr algn="ctr"/>
            <a:r>
              <a:rPr lang="en-US" dirty="0"/>
              <a:t>Timeline</a:t>
            </a:r>
          </a:p>
        </p:txBody>
      </p:sp>
      <p:graphicFrame>
        <p:nvGraphicFramePr>
          <p:cNvPr id="11" name="Chart 10">
            <a:extLst>
              <a:ext uri="{FF2B5EF4-FFF2-40B4-BE49-F238E27FC236}">
                <a16:creationId xmlns:a16="http://schemas.microsoft.com/office/drawing/2014/main" id="{F66D055D-616E-199D-37BB-0A8DE4BAFA2E}"/>
              </a:ext>
            </a:extLst>
          </p:cNvPr>
          <p:cNvGraphicFramePr/>
          <p:nvPr>
            <p:extLst>
              <p:ext uri="{D42A27DB-BD31-4B8C-83A1-F6EECF244321}">
                <p14:modId xmlns:p14="http://schemas.microsoft.com/office/powerpoint/2010/main" val="2288465136"/>
              </p:ext>
            </p:extLst>
          </p:nvPr>
        </p:nvGraphicFramePr>
        <p:xfrm>
          <a:off x="396538" y="981648"/>
          <a:ext cx="11137037" cy="52927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76223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B8C27-4AB8-D5B3-7F58-61C917FB96BA}"/>
              </a:ext>
            </a:extLst>
          </p:cNvPr>
          <p:cNvSpPr>
            <a:spLocks noGrp="1"/>
          </p:cNvSpPr>
          <p:nvPr>
            <p:ph type="title"/>
          </p:nvPr>
        </p:nvSpPr>
        <p:spPr/>
        <p:txBody>
          <a:bodyPr/>
          <a:lstStyle/>
          <a:p>
            <a:pPr algn="ctr"/>
            <a:r>
              <a:rPr lang="en-IN" dirty="0"/>
              <a:t>References</a:t>
            </a:r>
          </a:p>
        </p:txBody>
      </p:sp>
      <p:sp>
        <p:nvSpPr>
          <p:cNvPr id="3" name="Content Placeholder 2">
            <a:extLst>
              <a:ext uri="{FF2B5EF4-FFF2-40B4-BE49-F238E27FC236}">
                <a16:creationId xmlns:a16="http://schemas.microsoft.com/office/drawing/2014/main" id="{975059EE-3D0C-A06E-9F6E-8D229D083642}"/>
              </a:ext>
            </a:extLst>
          </p:cNvPr>
          <p:cNvSpPr>
            <a:spLocks noGrp="1"/>
          </p:cNvSpPr>
          <p:nvPr>
            <p:ph idx="1"/>
          </p:nvPr>
        </p:nvSpPr>
        <p:spPr>
          <a:xfrm>
            <a:off x="838200" y="1301843"/>
            <a:ext cx="10515600" cy="5481512"/>
          </a:xfrm>
        </p:spPr>
        <p:txBody>
          <a:bodyPr/>
          <a:lstStyle/>
          <a:p>
            <a:pPr marL="0" indent="0">
              <a:buNone/>
            </a:pPr>
            <a:r>
              <a:rPr lang="en-US" sz="1800" b="0" i="0" dirty="0">
                <a:solidFill>
                  <a:srgbClr val="222222"/>
                </a:solidFill>
                <a:effectLst/>
                <a:highlight>
                  <a:srgbClr val="FFFFFF"/>
                </a:highlight>
                <a:latin typeface="Arial" panose="020B0604020202020204" pitchFamily="34" charset="0"/>
              </a:rPr>
              <a:t>[1] Ávila-Jiménez, J. L., Cantón-Habas, V., del Pilar Carrera-González, M., Rich-Ruiz, M., &amp; Ventura, S. (2024). A deep learning model for Alzheimer’s disease diagnosis based on patient clinical records. </a:t>
            </a:r>
            <a:r>
              <a:rPr lang="en-US" sz="1800" b="0" i="1" dirty="0">
                <a:solidFill>
                  <a:srgbClr val="222222"/>
                </a:solidFill>
                <a:effectLst/>
                <a:highlight>
                  <a:srgbClr val="FFFFFF"/>
                </a:highlight>
                <a:latin typeface="Arial" panose="020B0604020202020204" pitchFamily="34" charset="0"/>
              </a:rPr>
              <a:t>Computers in Biology and Medicine</a:t>
            </a:r>
            <a:r>
              <a:rPr lang="en-US" sz="1800" b="0" i="0" dirty="0">
                <a:solidFill>
                  <a:srgbClr val="222222"/>
                </a:solidFill>
                <a:effectLst/>
                <a:highlight>
                  <a:srgbClr val="FFFFFF"/>
                </a:highlight>
                <a:latin typeface="Arial" panose="020B0604020202020204" pitchFamily="34" charset="0"/>
              </a:rPr>
              <a:t>, </a:t>
            </a:r>
            <a:r>
              <a:rPr lang="en-US" sz="1800" b="0" i="1" dirty="0">
                <a:solidFill>
                  <a:srgbClr val="222222"/>
                </a:solidFill>
                <a:effectLst/>
                <a:highlight>
                  <a:srgbClr val="FFFFFF"/>
                </a:highlight>
                <a:latin typeface="Arial" panose="020B0604020202020204" pitchFamily="34" charset="0"/>
              </a:rPr>
              <a:t>169</a:t>
            </a:r>
            <a:r>
              <a:rPr lang="en-US" sz="1800" b="0" i="0" dirty="0">
                <a:solidFill>
                  <a:srgbClr val="222222"/>
                </a:solidFill>
                <a:effectLst/>
                <a:highlight>
                  <a:srgbClr val="FFFFFF"/>
                </a:highlight>
                <a:latin typeface="Arial" panose="020B0604020202020204" pitchFamily="34" charset="0"/>
              </a:rPr>
              <a:t>, 107814.</a:t>
            </a:r>
            <a:endParaRPr lang="en-US" sz="1800" dirty="0">
              <a:solidFill>
                <a:srgbClr val="222222"/>
              </a:solidFill>
              <a:highlight>
                <a:srgbClr val="FFFFFF"/>
              </a:highlight>
              <a:latin typeface="Arial" panose="020B0604020202020204" pitchFamily="34" charset="0"/>
            </a:endParaRPr>
          </a:p>
          <a:p>
            <a:pPr marL="0" indent="0">
              <a:buNone/>
            </a:pPr>
            <a:r>
              <a:rPr lang="en-US" sz="1800" b="0" i="0" dirty="0">
                <a:solidFill>
                  <a:srgbClr val="222222"/>
                </a:solidFill>
                <a:effectLst/>
                <a:highlight>
                  <a:srgbClr val="FFFFFF"/>
                </a:highlight>
                <a:latin typeface="Arial" panose="020B0604020202020204" pitchFamily="34" charset="0"/>
              </a:rPr>
              <a:t>[2] Houria, L., Belkhamsa, N., Cherfa, A., &amp; Cherfa, Y. (2022). Multi-modality MRI for Alzheimer’s disease detection using deep learning. </a:t>
            </a:r>
            <a:r>
              <a:rPr lang="en-US" sz="1800" b="0" i="1" dirty="0">
                <a:solidFill>
                  <a:srgbClr val="222222"/>
                </a:solidFill>
                <a:effectLst/>
                <a:highlight>
                  <a:srgbClr val="FFFFFF"/>
                </a:highlight>
                <a:latin typeface="Arial" panose="020B0604020202020204" pitchFamily="34" charset="0"/>
              </a:rPr>
              <a:t>Physical and Engineering Sciences in Medicine</a:t>
            </a:r>
            <a:r>
              <a:rPr lang="en-US" sz="1800" b="0" i="0" dirty="0">
                <a:solidFill>
                  <a:srgbClr val="222222"/>
                </a:solidFill>
                <a:effectLst/>
                <a:highlight>
                  <a:srgbClr val="FFFFFF"/>
                </a:highlight>
                <a:latin typeface="Arial" panose="020B0604020202020204" pitchFamily="34" charset="0"/>
              </a:rPr>
              <a:t>, </a:t>
            </a:r>
            <a:r>
              <a:rPr lang="en-US" sz="1800" b="0" i="1" dirty="0">
                <a:solidFill>
                  <a:srgbClr val="222222"/>
                </a:solidFill>
                <a:effectLst/>
                <a:highlight>
                  <a:srgbClr val="FFFFFF"/>
                </a:highlight>
                <a:latin typeface="Arial" panose="020B0604020202020204" pitchFamily="34" charset="0"/>
              </a:rPr>
              <a:t>45</a:t>
            </a:r>
            <a:r>
              <a:rPr lang="en-US" sz="1800" b="0" i="0" dirty="0">
                <a:solidFill>
                  <a:srgbClr val="222222"/>
                </a:solidFill>
                <a:effectLst/>
                <a:highlight>
                  <a:srgbClr val="FFFFFF"/>
                </a:highlight>
                <a:latin typeface="Arial" panose="020B0604020202020204" pitchFamily="34" charset="0"/>
              </a:rPr>
              <a:t>(4), 1043-1053.</a:t>
            </a:r>
          </a:p>
          <a:p>
            <a:pPr marL="0" indent="0">
              <a:buNone/>
            </a:pPr>
            <a:r>
              <a:rPr lang="en-US" sz="1800" b="0" i="0" dirty="0">
                <a:solidFill>
                  <a:srgbClr val="222222"/>
                </a:solidFill>
                <a:effectLst/>
                <a:highlight>
                  <a:srgbClr val="FFFFFF"/>
                </a:highlight>
                <a:latin typeface="Arial" panose="020B0604020202020204" pitchFamily="34" charset="0"/>
              </a:rPr>
              <a:t>[3] Al Shehri, W. (2022). Alzheimer’s disease diagnosis and classification using deep learning techniques. </a:t>
            </a:r>
            <a:r>
              <a:rPr lang="en-US" sz="1800" b="0" i="1" dirty="0">
                <a:solidFill>
                  <a:srgbClr val="222222"/>
                </a:solidFill>
                <a:effectLst/>
                <a:highlight>
                  <a:srgbClr val="FFFFFF"/>
                </a:highlight>
                <a:latin typeface="Arial" panose="020B0604020202020204" pitchFamily="34" charset="0"/>
              </a:rPr>
              <a:t>PeerJ Computer Science</a:t>
            </a:r>
            <a:r>
              <a:rPr lang="en-US" sz="1800" b="0" i="0" dirty="0">
                <a:solidFill>
                  <a:srgbClr val="222222"/>
                </a:solidFill>
                <a:effectLst/>
                <a:highlight>
                  <a:srgbClr val="FFFFFF"/>
                </a:highlight>
                <a:latin typeface="Arial" panose="020B0604020202020204" pitchFamily="34" charset="0"/>
              </a:rPr>
              <a:t>, </a:t>
            </a:r>
            <a:r>
              <a:rPr lang="en-US" sz="1800" b="0" i="1" dirty="0">
                <a:solidFill>
                  <a:srgbClr val="222222"/>
                </a:solidFill>
                <a:effectLst/>
                <a:highlight>
                  <a:srgbClr val="FFFFFF"/>
                </a:highlight>
                <a:latin typeface="Arial" panose="020B0604020202020204" pitchFamily="34" charset="0"/>
              </a:rPr>
              <a:t>8</a:t>
            </a:r>
            <a:r>
              <a:rPr lang="en-US" sz="1800" b="0" i="0" dirty="0">
                <a:solidFill>
                  <a:srgbClr val="222222"/>
                </a:solidFill>
                <a:effectLst/>
                <a:highlight>
                  <a:srgbClr val="FFFFFF"/>
                </a:highlight>
                <a:latin typeface="Arial" panose="020B0604020202020204" pitchFamily="34" charset="0"/>
              </a:rPr>
              <a:t>, e1177.</a:t>
            </a:r>
          </a:p>
          <a:p>
            <a:pPr marL="0" indent="0">
              <a:buNone/>
            </a:pPr>
            <a:r>
              <a:rPr lang="en-US" sz="1800" b="0" i="0" dirty="0">
                <a:solidFill>
                  <a:srgbClr val="222222"/>
                </a:solidFill>
                <a:effectLst/>
                <a:highlight>
                  <a:srgbClr val="FFFFFF"/>
                </a:highlight>
                <a:latin typeface="Arial" panose="020B0604020202020204" pitchFamily="34" charset="0"/>
              </a:rPr>
              <a:t>[4] Helaly, H. A., Badawy, M., &amp; Haikal, A. Y. (2022). Deep learning approach for early detection of Alzheimer’s disease. </a:t>
            </a:r>
            <a:r>
              <a:rPr lang="en-US" sz="1800" b="0" i="1" dirty="0">
                <a:solidFill>
                  <a:srgbClr val="222222"/>
                </a:solidFill>
                <a:effectLst/>
                <a:highlight>
                  <a:srgbClr val="FFFFFF"/>
                </a:highlight>
                <a:latin typeface="Arial" panose="020B0604020202020204" pitchFamily="34" charset="0"/>
              </a:rPr>
              <a:t>Cognitive computation</a:t>
            </a:r>
            <a:r>
              <a:rPr lang="en-US" sz="1800" b="0" i="0" dirty="0">
                <a:solidFill>
                  <a:srgbClr val="222222"/>
                </a:solidFill>
                <a:effectLst/>
                <a:highlight>
                  <a:srgbClr val="FFFFFF"/>
                </a:highlight>
                <a:latin typeface="Arial" panose="020B0604020202020204" pitchFamily="34" charset="0"/>
              </a:rPr>
              <a:t>, </a:t>
            </a:r>
            <a:r>
              <a:rPr lang="en-US" sz="1800" b="0" i="1" dirty="0">
                <a:solidFill>
                  <a:srgbClr val="222222"/>
                </a:solidFill>
                <a:effectLst/>
                <a:highlight>
                  <a:srgbClr val="FFFFFF"/>
                </a:highlight>
                <a:latin typeface="Arial" panose="020B0604020202020204" pitchFamily="34" charset="0"/>
              </a:rPr>
              <a:t>14</a:t>
            </a:r>
            <a:r>
              <a:rPr lang="en-US" sz="1800" b="0" i="0" dirty="0">
                <a:solidFill>
                  <a:srgbClr val="222222"/>
                </a:solidFill>
                <a:effectLst/>
                <a:highlight>
                  <a:srgbClr val="FFFFFF"/>
                </a:highlight>
                <a:latin typeface="Arial" panose="020B0604020202020204" pitchFamily="34" charset="0"/>
              </a:rPr>
              <a:t>(5), 1711-1727.</a:t>
            </a:r>
          </a:p>
          <a:p>
            <a:pPr marL="0" indent="0">
              <a:buNone/>
            </a:pPr>
            <a:r>
              <a:rPr lang="en-US" sz="1800" i="0" dirty="0">
                <a:solidFill>
                  <a:srgbClr val="222222"/>
                </a:solidFill>
                <a:effectLst/>
                <a:highlight>
                  <a:srgbClr val="FFFFFF"/>
                </a:highlight>
                <a:latin typeface="Arial" panose="020B0604020202020204" pitchFamily="34" charset="0"/>
              </a:rPr>
              <a:t>[5] Raees, P. M., &amp; Thomas, V. (2021, May). Automated detection of Alzheimer’s Disease using Deep Learning in MRI. In </a:t>
            </a:r>
            <a:r>
              <a:rPr lang="en-US" sz="1800" i="1" dirty="0">
                <a:solidFill>
                  <a:srgbClr val="222222"/>
                </a:solidFill>
                <a:effectLst/>
                <a:highlight>
                  <a:srgbClr val="FFFFFF"/>
                </a:highlight>
                <a:latin typeface="Arial" panose="020B0604020202020204" pitchFamily="34" charset="0"/>
              </a:rPr>
              <a:t>Journal of Physics: Conference Series</a:t>
            </a:r>
            <a:r>
              <a:rPr lang="en-US" sz="1800" i="0" dirty="0">
                <a:solidFill>
                  <a:srgbClr val="222222"/>
                </a:solidFill>
                <a:effectLst/>
                <a:highlight>
                  <a:srgbClr val="FFFFFF"/>
                </a:highlight>
                <a:latin typeface="Arial" panose="020B0604020202020204" pitchFamily="34" charset="0"/>
              </a:rPr>
              <a:t> (Vol. 1921, No. 1, p. 012024). IOP Publishing.</a:t>
            </a:r>
          </a:p>
          <a:p>
            <a:pPr marL="0" indent="0">
              <a:buNone/>
            </a:pPr>
            <a:r>
              <a:rPr lang="en-US" sz="1800" b="0" i="0" dirty="0">
                <a:solidFill>
                  <a:srgbClr val="222222"/>
                </a:solidFill>
                <a:effectLst/>
                <a:highlight>
                  <a:srgbClr val="FFFFFF"/>
                </a:highlight>
                <a:latin typeface="Arial" panose="020B0604020202020204" pitchFamily="34" charset="0"/>
              </a:rPr>
              <a:t>[6] Salehi, A. W., </a:t>
            </a:r>
            <a:r>
              <a:rPr lang="en-US" sz="1800" b="0" i="0" dirty="0" err="1">
                <a:solidFill>
                  <a:srgbClr val="222222"/>
                </a:solidFill>
                <a:effectLst/>
                <a:highlight>
                  <a:srgbClr val="FFFFFF"/>
                </a:highlight>
                <a:latin typeface="Arial" panose="020B0604020202020204" pitchFamily="34" charset="0"/>
              </a:rPr>
              <a:t>Baglat</a:t>
            </a:r>
            <a:r>
              <a:rPr lang="en-US" sz="1800" b="0" i="0" dirty="0">
                <a:solidFill>
                  <a:srgbClr val="222222"/>
                </a:solidFill>
                <a:effectLst/>
                <a:highlight>
                  <a:srgbClr val="FFFFFF"/>
                </a:highlight>
                <a:latin typeface="Arial" panose="020B0604020202020204" pitchFamily="34" charset="0"/>
              </a:rPr>
              <a:t>, P., &amp; Gupta, G. (2020). Alzheimer’s disease diagnosis using deep learning techniques. </a:t>
            </a:r>
            <a:r>
              <a:rPr lang="en-US" sz="1800" b="0" i="1" dirty="0">
                <a:solidFill>
                  <a:srgbClr val="222222"/>
                </a:solidFill>
                <a:effectLst/>
                <a:highlight>
                  <a:srgbClr val="FFFFFF"/>
                </a:highlight>
                <a:latin typeface="Arial" panose="020B0604020202020204" pitchFamily="34" charset="0"/>
              </a:rPr>
              <a:t>Int. J. Eng. Adv. Technol</a:t>
            </a:r>
            <a:r>
              <a:rPr lang="en-US" sz="1800" b="0" i="0" dirty="0">
                <a:solidFill>
                  <a:srgbClr val="222222"/>
                </a:solidFill>
                <a:effectLst/>
                <a:highlight>
                  <a:srgbClr val="FFFFFF"/>
                </a:highlight>
                <a:latin typeface="Arial" panose="020B0604020202020204" pitchFamily="34" charset="0"/>
              </a:rPr>
              <a:t>, </a:t>
            </a:r>
            <a:r>
              <a:rPr lang="en-US" sz="1800" b="0" i="1" dirty="0">
                <a:solidFill>
                  <a:srgbClr val="222222"/>
                </a:solidFill>
                <a:effectLst/>
                <a:highlight>
                  <a:srgbClr val="FFFFFF"/>
                </a:highlight>
                <a:latin typeface="Arial" panose="020B0604020202020204" pitchFamily="34" charset="0"/>
              </a:rPr>
              <a:t>9</a:t>
            </a:r>
            <a:r>
              <a:rPr lang="en-US" sz="1800" b="0" i="0" dirty="0">
                <a:solidFill>
                  <a:srgbClr val="222222"/>
                </a:solidFill>
                <a:effectLst/>
                <a:highlight>
                  <a:srgbClr val="FFFFFF"/>
                </a:highlight>
                <a:latin typeface="Arial" panose="020B0604020202020204" pitchFamily="34" charset="0"/>
              </a:rPr>
              <a:t>(3), 874-880.</a:t>
            </a:r>
          </a:p>
          <a:p>
            <a:pPr marL="0" indent="0">
              <a:buNone/>
            </a:pPr>
            <a:r>
              <a:rPr lang="en-US" sz="1800" b="0" i="0" dirty="0">
                <a:solidFill>
                  <a:srgbClr val="222222"/>
                </a:solidFill>
                <a:effectLst/>
                <a:highlight>
                  <a:srgbClr val="FFFFFF"/>
                </a:highlight>
                <a:latin typeface="Arial" panose="020B0604020202020204" pitchFamily="34" charset="0"/>
              </a:rPr>
              <a:t>[7] Liu, S., Liu, S., Cai, W., Pujol, S., </a:t>
            </a:r>
            <a:r>
              <a:rPr lang="en-US" sz="1800" b="0" i="0" dirty="0" err="1">
                <a:solidFill>
                  <a:srgbClr val="222222"/>
                </a:solidFill>
                <a:effectLst/>
                <a:highlight>
                  <a:srgbClr val="FFFFFF"/>
                </a:highlight>
                <a:latin typeface="Arial" panose="020B0604020202020204" pitchFamily="34" charset="0"/>
              </a:rPr>
              <a:t>Kikinis</a:t>
            </a:r>
            <a:r>
              <a:rPr lang="en-US" sz="1800" b="0" i="0" dirty="0">
                <a:solidFill>
                  <a:srgbClr val="222222"/>
                </a:solidFill>
                <a:effectLst/>
                <a:highlight>
                  <a:srgbClr val="FFFFFF"/>
                </a:highlight>
                <a:latin typeface="Arial" panose="020B0604020202020204" pitchFamily="34" charset="0"/>
              </a:rPr>
              <a:t>, R., &amp; Feng, D. (2014, April). Early diagnosis of Alzheimer's disease with deep learning. In </a:t>
            </a:r>
            <a:r>
              <a:rPr lang="en-US" sz="1800" b="0" i="1" dirty="0">
                <a:solidFill>
                  <a:srgbClr val="222222"/>
                </a:solidFill>
                <a:effectLst/>
                <a:highlight>
                  <a:srgbClr val="FFFFFF"/>
                </a:highlight>
                <a:latin typeface="Arial" panose="020B0604020202020204" pitchFamily="34" charset="0"/>
              </a:rPr>
              <a:t>2014 IEEE 11th international symposium on biomedical imaging (ISBI)</a:t>
            </a:r>
            <a:r>
              <a:rPr lang="en-US" sz="1800" b="0" i="0" dirty="0">
                <a:solidFill>
                  <a:srgbClr val="222222"/>
                </a:solidFill>
                <a:effectLst/>
                <a:highlight>
                  <a:srgbClr val="FFFFFF"/>
                </a:highlight>
                <a:latin typeface="Arial" panose="020B0604020202020204" pitchFamily="34" charset="0"/>
              </a:rPr>
              <a:t> (pp. 1015-1018). IEEE.</a:t>
            </a:r>
          </a:p>
          <a:p>
            <a:endParaRPr lang="en-US" sz="1800" i="0" dirty="0">
              <a:solidFill>
                <a:srgbClr val="222222"/>
              </a:solidFill>
              <a:effectLst/>
              <a:highlight>
                <a:srgbClr val="FFFFFF"/>
              </a:highlight>
              <a:latin typeface="Arial" panose="020B0604020202020204" pitchFamily="34" charset="0"/>
            </a:endParaRPr>
          </a:p>
          <a:p>
            <a:endParaRPr lang="en-US" sz="1800" i="0" dirty="0">
              <a:solidFill>
                <a:srgbClr val="222222"/>
              </a:solidFill>
              <a:effectLst/>
              <a:highlight>
                <a:srgbClr val="FFFFFF"/>
              </a:highlight>
              <a:latin typeface="Arial" panose="020B0604020202020204" pitchFamily="34" charset="0"/>
            </a:endParaRPr>
          </a:p>
          <a:p>
            <a:endParaRPr lang="en-US" sz="1800" i="0" dirty="0">
              <a:solidFill>
                <a:srgbClr val="222222"/>
              </a:solidFill>
              <a:effectLst/>
              <a:highlight>
                <a:srgbClr val="FFFFFF"/>
              </a:highlight>
              <a:latin typeface="Arial" panose="020B0604020202020204" pitchFamily="34" charset="0"/>
            </a:endParaRPr>
          </a:p>
          <a:p>
            <a:endParaRPr lang="en-US" sz="1800" i="0" dirty="0">
              <a:solidFill>
                <a:srgbClr val="222222"/>
              </a:solidFill>
              <a:effectLst/>
              <a:highlight>
                <a:srgbClr val="FFFFFF"/>
              </a:highlight>
              <a:latin typeface="Arial" panose="020B0604020202020204" pitchFamily="34" charset="0"/>
            </a:endParaRPr>
          </a:p>
          <a:p>
            <a:endParaRPr lang="en-IN" sz="1800" dirty="0"/>
          </a:p>
        </p:txBody>
      </p:sp>
    </p:spTree>
    <p:extLst>
      <p:ext uri="{BB962C8B-B14F-4D97-AF65-F5344CB8AC3E}">
        <p14:creationId xmlns:p14="http://schemas.microsoft.com/office/powerpoint/2010/main" val="614410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1834</TotalTime>
  <Words>2421</Words>
  <Application>Microsoft Office PowerPoint</Application>
  <PresentationFormat>Widescreen</PresentationFormat>
  <Paragraphs>244</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Office Theme</vt:lpstr>
      <vt:lpstr>   Alzheimer Disease Detection</vt:lpstr>
      <vt:lpstr>Index</vt:lpstr>
      <vt:lpstr>Introduction</vt:lpstr>
      <vt:lpstr>Introduction</vt:lpstr>
      <vt:lpstr>Motivation </vt:lpstr>
      <vt:lpstr>Literature Review</vt:lpstr>
      <vt:lpstr>Literature Review</vt:lpstr>
      <vt:lpstr>Literature Review</vt:lpstr>
      <vt:lpstr>Literature Review</vt:lpstr>
      <vt:lpstr>Literature Review</vt:lpstr>
      <vt:lpstr>Literature Review</vt:lpstr>
      <vt:lpstr>Literature Review</vt:lpstr>
      <vt:lpstr>Problem Statement</vt:lpstr>
      <vt:lpstr>Objectives</vt:lpstr>
      <vt:lpstr>                                  Design</vt:lpstr>
      <vt:lpstr>                                  Design</vt:lpstr>
      <vt:lpstr>Design</vt:lpstr>
      <vt:lpstr>Design</vt:lpstr>
      <vt:lpstr>                                Results</vt:lpstr>
      <vt:lpstr>                                Results</vt:lpstr>
      <vt:lpstr>                                Results</vt:lpstr>
      <vt:lpstr>                                EffiecientNetB0 Architecture </vt:lpstr>
      <vt:lpstr>                                </vt:lpstr>
      <vt:lpstr>                                </vt:lpstr>
      <vt:lpstr>                                   Results</vt:lpstr>
      <vt:lpstr>                                   Results</vt:lpstr>
      <vt:lpstr>                              Conclusion</vt:lpstr>
      <vt:lpstr>Software required</vt:lpstr>
      <vt:lpstr>Hardware required</vt:lpstr>
      <vt:lpstr>Timeline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 Batch No</dc:title>
  <dc:creator>Vadivukkarasi K</dc:creator>
  <cp:lastModifiedBy>satish M</cp:lastModifiedBy>
  <cp:revision>62</cp:revision>
  <dcterms:created xsi:type="dcterms:W3CDTF">2024-01-05T04:56:25Z</dcterms:created>
  <dcterms:modified xsi:type="dcterms:W3CDTF">2025-05-06T12:57:59Z</dcterms:modified>
</cp:coreProperties>
</file>